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5143500" cy="9144000"/>
  <p:embeddedFontLst>
    <p:embeddedFont>
      <p:font typeface="Arial Black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hQARmpMzXpondazgkEfSqNFo/J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482E9A-F7A2-44C7-ACF2-824FCFC072FA}">
  <a:tblStyle styleId="{C1482E9A-F7A2-44C7-ACF2-824FCFC072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ArialBlac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6974486c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d6974486c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d6974486c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6974486cb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d6974486cb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6974486cb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6974486cb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6974486cb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6974486cb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6974486cb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6974486cb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d6974486cb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6974486cb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d6974486cb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d6974486cb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6e84ba5c3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d6e84ba5c3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d6e84ba5c3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5" name="Google Shape;6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d6e84ba5c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d6e84ba5c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d6e84ba5c3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6" name="Google Shape;7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d6e84ba5c3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g3d6e84ba5c3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d6e84ba5c3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d6e84ba5c3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6" name="Google Shape;806;g3d6e84ba5c3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3d6e84ba5c3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d6e84ba5c3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3d6e84ba5c3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g3d6e84ba5c3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d6e84ba5c3_0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2" name="Google Shape;882;g3d6e84ba5c3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d6e84ba5c3_0_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9" name="Google Shape;8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d6e84ba5c3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5" name="Google Shape;935;g3d6e84ba5c3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g3d6e84ba5c3_0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7" name="Google Shape;97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0" name="Google Shape;101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d6e84ba5c3_0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4" name="Google Shape;1064;g3d6e84ba5c3_0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g3d6e84ba5c3_0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5" name="Google Shape;113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2" name="Google Shape;117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5" name="Google Shape;121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6" name="Google Shape;125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27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1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2.png"/><Relationship Id="rId4" Type="http://schemas.openxmlformats.org/officeDocument/2006/relationships/image" Target="../media/image99.png"/><Relationship Id="rId5" Type="http://schemas.openxmlformats.org/officeDocument/2006/relationships/image" Target="../media/image4.png"/><Relationship Id="rId6" Type="http://schemas.openxmlformats.org/officeDocument/2006/relationships/image" Target="../media/image9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8.png"/><Relationship Id="rId4" Type="http://schemas.openxmlformats.org/officeDocument/2006/relationships/image" Target="../media/image39.png"/><Relationship Id="rId9" Type="http://schemas.openxmlformats.org/officeDocument/2006/relationships/image" Target="../media/image137.png"/><Relationship Id="rId5" Type="http://schemas.openxmlformats.org/officeDocument/2006/relationships/image" Target="../media/image133.png"/><Relationship Id="rId6" Type="http://schemas.openxmlformats.org/officeDocument/2006/relationships/image" Target="../media/image129.png"/><Relationship Id="rId7" Type="http://schemas.openxmlformats.org/officeDocument/2006/relationships/image" Target="../media/image147.png"/><Relationship Id="rId8" Type="http://schemas.openxmlformats.org/officeDocument/2006/relationships/image" Target="../media/image1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46.png"/><Relationship Id="rId6" Type="http://schemas.openxmlformats.org/officeDocument/2006/relationships/image" Target="../media/image1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2.png"/><Relationship Id="rId4" Type="http://schemas.openxmlformats.org/officeDocument/2006/relationships/image" Target="../media/image94.png"/><Relationship Id="rId5" Type="http://schemas.openxmlformats.org/officeDocument/2006/relationships/image" Target="../media/image151.png"/><Relationship Id="rId6" Type="http://schemas.openxmlformats.org/officeDocument/2006/relationships/image" Target="../media/image15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Relationship Id="rId4" Type="http://schemas.openxmlformats.org/officeDocument/2006/relationships/image" Target="../media/image1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583680" y="-1371600"/>
            <a:ext cx="5486400" cy="5486400"/>
          </a:xfrm>
          <a:prstGeom prst="ellipse">
            <a:avLst/>
          </a:prstGeom>
          <a:solidFill>
            <a:srgbClr val="8B5CF6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0" y="2286000"/>
            <a:ext cx="4114800" cy="41148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818CF8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457200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 Lead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Assessment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Strategic Growth Plan for BIST &amp; BGA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20040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" y="354505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Artyom Ananov  |  April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F46E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8B5CF6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40080" y="32004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ARTYOM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ANANOV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Marketer  |  8+ Years  |  Data-Driven  |  AI Native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828800"/>
            <a:ext cx="1097280" cy="54864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2103120"/>
            <a:ext cx="2011680" cy="1051560"/>
          </a:xfrm>
          <a:prstGeom prst="roundRect">
            <a:avLst>
              <a:gd fmla="val 8696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214884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b="1" lang="en-US" sz="2800">
                <a:solidFill>
                  <a:srgbClr val="4F46E5"/>
                </a:solidFill>
              </a:rPr>
              <a:t>750K</a:t>
            </a:r>
            <a:r>
              <a:rPr b="1" i="0" lang="en-US" sz="2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Ad spend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managed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651751" y="2103125"/>
            <a:ext cx="4114800" cy="1051500"/>
          </a:xfrm>
          <a:prstGeom prst="roundRect">
            <a:avLst>
              <a:gd fmla="val 8696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651751" y="2148845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45+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651751" y="2651760"/>
            <a:ext cx="411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1D5DB"/>
                </a:solidFill>
              </a:rPr>
              <a:t>Partner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D1D5DB"/>
                </a:solidFill>
              </a:rPr>
              <a:t>companies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040880" y="2103120"/>
            <a:ext cx="2011680" cy="1051560"/>
          </a:xfrm>
          <a:prstGeom prst="roundRect">
            <a:avLst>
              <a:gd fmla="val 8696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040880" y="2148840"/>
            <a:ext cx="201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25K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040880" y="265176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MAU product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(uCraft)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05840" y="3383280"/>
            <a:ext cx="137160" cy="1371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43000" y="3438144"/>
            <a:ext cx="1307592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57200" y="35661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2017-18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37490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Marketing Specialist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Maxim (14+ countries)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450592" y="3383280"/>
            <a:ext cx="137160" cy="1371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2587752" y="3438144"/>
            <a:ext cx="1307592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901952" y="35661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2018-22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901952" y="37490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CMO &amp; Founder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901952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MSG Agency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895344" y="3383280"/>
            <a:ext cx="137160" cy="1371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032504" y="3438144"/>
            <a:ext cx="1307592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346704" y="35661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2020-23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346704" y="37490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 Marketing Lead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346704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ARC Digits (US clients)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340096" y="3383280"/>
            <a:ext cx="137160" cy="1371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477256" y="3438144"/>
            <a:ext cx="1307592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791456" y="35661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2022-23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791456" y="37490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Sr. SEO Specialist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91456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Gladus (300→175K)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784848" y="3383280"/>
            <a:ext cx="137160" cy="13716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922008" y="3438144"/>
            <a:ext cx="1307592" cy="274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6236208" y="35661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2023-25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236208" y="37490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Co-Founder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236208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uCraft (SaaS, 25K MAU)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8229600" y="338328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680960" y="356616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2025+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680960" y="37490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Sr. Marketing Manager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680960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Growth Hunters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457200" y="4297680"/>
            <a:ext cx="1325880" cy="320040"/>
          </a:xfrm>
          <a:prstGeom prst="roundRect">
            <a:avLst>
              <a:gd fmla="val 48571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57200" y="429768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AI Trainer (Alte + BTU)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901952" y="4297680"/>
            <a:ext cx="1325880" cy="320040"/>
          </a:xfrm>
          <a:prstGeom prst="roundRect">
            <a:avLst>
              <a:gd fmla="val 48571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901952" y="429768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Google/Meta/LinkedIn Ads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346704" y="4297680"/>
            <a:ext cx="1325880" cy="320040"/>
          </a:xfrm>
          <a:prstGeom prst="roundRect">
            <a:avLst>
              <a:gd fmla="val 48571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3346704" y="429768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SEO + GEO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791456" y="4297680"/>
            <a:ext cx="1325880" cy="320040"/>
          </a:xfrm>
          <a:prstGeom prst="roundRect">
            <a:avLst>
              <a:gd fmla="val 48571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791456" y="429768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C4B5FD"/>
                </a:solidFill>
              </a:rPr>
              <a:t>CRM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236208" y="4297680"/>
            <a:ext cx="1325880" cy="320040"/>
          </a:xfrm>
          <a:prstGeom prst="roundRect">
            <a:avLst>
              <a:gd fmla="val 48571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6236208" y="429768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N8N Automation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7680960" y="4297680"/>
            <a:ext cx="1325880" cy="320040"/>
          </a:xfrm>
          <a:prstGeom prst="roundRect">
            <a:avLst>
              <a:gd fmla="val 48571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7680960" y="429768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Georgian + English + Russian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0080" y="914400"/>
            <a:ext cx="786384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49808" y="950976"/>
            <a:ext cx="384048" cy="38404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618" y="102778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/>
          <p:nvPr/>
        </p:nvSpPr>
        <p:spPr>
          <a:xfrm>
            <a:off x="1280160" y="93268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01  Situation Audit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1280160" y="113385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Strengths, pain points, competition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40080" y="1463040"/>
            <a:ext cx="786384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49808" y="1499616"/>
            <a:ext cx="384048" cy="38404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618" y="157642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280160" y="148132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02  BIST: 12-Month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1280160" y="168249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Audience, funnel, channels, KPIs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40080" y="2011680"/>
            <a:ext cx="786384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749808" y="2048256"/>
            <a:ext cx="384048" cy="38404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618" y="212506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1280160" y="202996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03  BGA: 12-Month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280160" y="223113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Positioning, Georgian market, IB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40080" y="2560320"/>
            <a:ext cx="786384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749808" y="2596896"/>
            <a:ext cx="384048" cy="38404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618" y="267370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1280160" y="257860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04  Digital &amp; Lead Gen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280160" y="277977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CRM, SEO+GEO, social, paid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0080" y="3108960"/>
            <a:ext cx="786384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49808" y="3145536"/>
            <a:ext cx="384048" cy="38404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6618" y="322234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1280160" y="312724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05  Retention &amp; Loyalty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280160" y="332841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NPS, ambassadors, alumni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40080" y="3657600"/>
            <a:ext cx="7863840" cy="4572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749808" y="3694176"/>
            <a:ext cx="384048" cy="38404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618" y="377098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/>
          <p:nvPr/>
        </p:nvSpPr>
        <p:spPr>
          <a:xfrm>
            <a:off x="1280160" y="367588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06  First 90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280160" y="387705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Quick wins, stakeholders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40080" y="4206240"/>
            <a:ext cx="786384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49808" y="4242816"/>
            <a:ext cx="384048" cy="38404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6618" y="4319626"/>
            <a:ext cx="230429" cy="23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1280160" y="422452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07  Team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1280160" y="4425696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Roles &amp; responsibilities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731520" y="172325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Situation Audit &amp;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Findings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731520" y="329184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Understanding where we are before deciding where to go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Competitive Landscape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0080" y="77724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16+ international schools in Tbilisi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6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{C1482E9A-F7A2-44C7-ACF2-824FCFC072FA}</a:tableStyleId>
              </a:tblPr>
              <a:tblGrid>
                <a:gridCol w="2011675"/>
                <a:gridCol w="2011675"/>
                <a:gridCol w="914400"/>
                <a:gridCol w="32918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School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Curriculum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Strength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BIST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Cambridge/A-Level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520+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COBIS-accredited British school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BGA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Cambridge/IB/Georgian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500+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Leading Georgian-national school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F4444"/>
                          </a:solidFill>
                        </a:rPr>
                        <a:t>QSI Tbilisi</a:t>
                      </a:r>
                      <a:endParaRPr b="1" sz="950" u="none" cap="none" strike="noStrike">
                        <a:solidFill>
                          <a:srgbClr val="EF4444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American/AP/SAT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~250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 Embassy community, 30+ yrs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F4444"/>
                          </a:solidFill>
                        </a:rPr>
                        <a:t>European School</a:t>
                      </a:r>
                      <a:endParaRPr b="1" sz="950" u="none" cap="none" strike="noStrike">
                        <a:solidFill>
                          <a:srgbClr val="EF4444"/>
                        </a:solidFill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IB (all 3 prog.)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~900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CIS member in Georgia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Newton Free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IB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~1,500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Largest, fast-growing IB school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Maarif Schools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Turkish/Intl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Modern campus near Lisi Lake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GZAAT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American/AP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~250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Selective, trilingual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0800" marB="50800" marR="76200" marL="762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Pain Points &amp; Growth Blockers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8686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BIST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1234440"/>
            <a:ext cx="402336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1234440"/>
            <a:ext cx="73152" cy="713232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40080" y="127101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Low social engagement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12.5K FB vs BGA's 37K. Only 125 talking.</a:t>
            </a:r>
            <a:r>
              <a:rPr lang="en-US" sz="900">
                <a:solidFill>
                  <a:srgbClr val="6B7280"/>
                </a:solidFill>
              </a:rPr>
              <a:t> Low digital loyalty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2075688"/>
            <a:ext cx="402336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57200" y="2075688"/>
            <a:ext cx="73152" cy="713232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40080" y="21122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Sixth Form retention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40080" y="235000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54/520 post-16. Drop-off after IGCSE.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57200" y="2916936"/>
            <a:ext cx="402336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57200" y="2916936"/>
            <a:ext cx="73152" cy="713232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40080" y="295351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Fee opacity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40080" y="319125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 public fees anywhere. Which can be a benefit at some poi</a:t>
            </a:r>
            <a:r>
              <a:rPr lang="en-US" sz="900">
                <a:solidFill>
                  <a:srgbClr val="6B7280"/>
                </a:solidFill>
              </a:rPr>
              <a:t>nt as well. Should be A/B tested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3758184"/>
            <a:ext cx="402336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57200" y="3758184"/>
            <a:ext cx="73152" cy="713232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640080" y="37947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WordPress stack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40080" y="403250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 CRM, chat, or tracking.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846320" y="86868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BGA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846320" y="1234438"/>
            <a:ext cx="4023300" cy="7131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846320" y="1234438"/>
            <a:ext cx="73200" cy="7131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029200" y="1271014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IB track still new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029200" y="1508758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Authorized 2022. No results ye</a:t>
            </a:r>
            <a:r>
              <a:rPr lang="en-US" sz="900">
                <a:solidFill>
                  <a:srgbClr val="6B7280"/>
                </a:solidFill>
              </a:rPr>
              <a:t>t compared to European School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846320" y="2075686"/>
            <a:ext cx="4023300" cy="7131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846320" y="2075686"/>
            <a:ext cx="73200" cy="7131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029200" y="2112262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Brand confusion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029200" y="2350006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Similar names, shared campus.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846320" y="2916934"/>
            <a:ext cx="4023300" cy="7131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846320" y="2916934"/>
            <a:ext cx="73200" cy="7131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029200" y="2953510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Georgian-market ceiling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029200" y="3191254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Limited international enrollment.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6974486cb_0_0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11827"/>
                </a:solidFill>
              </a:rPr>
              <a:t>Common </a:t>
            </a: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Pain Points </a:t>
            </a:r>
            <a:r>
              <a:rPr b="1" lang="en-US" sz="2800">
                <a:solidFill>
                  <a:srgbClr val="111827"/>
                </a:solidFill>
              </a:rPr>
              <a:t>For Both Schools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d6974486cb_0_0"/>
          <p:cNvSpPr/>
          <p:nvPr/>
        </p:nvSpPr>
        <p:spPr>
          <a:xfrm>
            <a:off x="640075" y="1218625"/>
            <a:ext cx="4222200" cy="7485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6629" rotWithShape="0" algn="bl" dir="8100000" dist="39986">
              <a:srgbClr val="000000">
                <a:alpha val="7840"/>
              </a:srgbClr>
            </a:outerShdw>
          </a:effectLst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6974486cb_0_0"/>
          <p:cNvSpPr/>
          <p:nvPr/>
        </p:nvSpPr>
        <p:spPr>
          <a:xfrm>
            <a:off x="640075" y="1218625"/>
            <a:ext cx="76800" cy="748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d6974486cb_0_0"/>
          <p:cNvSpPr/>
          <p:nvPr/>
        </p:nvSpPr>
        <p:spPr>
          <a:xfrm>
            <a:off x="832008" y="1257011"/>
            <a:ext cx="3838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2"/>
              <a:buFont typeface="Arial"/>
              <a:buNone/>
            </a:pPr>
            <a:r>
              <a:rPr b="1" lang="en-US" sz="1102">
                <a:solidFill>
                  <a:srgbClr val="111827"/>
                </a:solidFill>
              </a:rPr>
              <a:t>Poor funnel setup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d6974486cb_0_0"/>
          <p:cNvSpPr/>
          <p:nvPr/>
        </p:nvSpPr>
        <p:spPr>
          <a:xfrm>
            <a:off x="832008" y="1506523"/>
            <a:ext cx="38388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45"/>
              <a:buFont typeface="Arial"/>
              <a:buNone/>
            </a:pPr>
            <a:r>
              <a:rPr lang="en-US" sz="945">
                <a:solidFill>
                  <a:srgbClr val="6B7280"/>
                </a:solidFill>
              </a:rPr>
              <a:t>setup does not rely on data-driven solutions</a:t>
            </a:r>
            <a:endParaRPr b="0" i="0" sz="9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d6974486cb_0_0"/>
          <p:cNvSpPr/>
          <p:nvPr/>
        </p:nvSpPr>
        <p:spPr>
          <a:xfrm>
            <a:off x="640075" y="2158007"/>
            <a:ext cx="4222200" cy="7485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6629" rotWithShape="0" algn="bl" dir="8100000" dist="39986">
              <a:srgbClr val="000000">
                <a:alpha val="7840"/>
              </a:srgbClr>
            </a:outerShdw>
          </a:effectLst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6974486cb_0_0"/>
          <p:cNvSpPr/>
          <p:nvPr/>
        </p:nvSpPr>
        <p:spPr>
          <a:xfrm>
            <a:off x="640075" y="2158007"/>
            <a:ext cx="76800" cy="748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6974486cb_0_0"/>
          <p:cNvSpPr/>
          <p:nvPr/>
        </p:nvSpPr>
        <p:spPr>
          <a:xfrm>
            <a:off x="832008" y="2196394"/>
            <a:ext cx="3838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2"/>
              <a:buFont typeface="Arial"/>
              <a:buNone/>
            </a:pPr>
            <a:r>
              <a:rPr b="1" lang="en-US" sz="1102">
                <a:solidFill>
                  <a:srgbClr val="111827"/>
                </a:solidFill>
              </a:rPr>
              <a:t>Lack of digital activities and ads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d6974486cb_0_0"/>
          <p:cNvSpPr/>
          <p:nvPr/>
        </p:nvSpPr>
        <p:spPr>
          <a:xfrm>
            <a:off x="832008" y="2445905"/>
            <a:ext cx="38388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45"/>
              <a:buFont typeface="Arial"/>
              <a:buNone/>
            </a:pPr>
            <a:r>
              <a:rPr lang="en-US" sz="945">
                <a:solidFill>
                  <a:srgbClr val="6B7280"/>
                </a:solidFill>
              </a:rPr>
              <a:t>No active digital ads (on the moment of research)</a:t>
            </a:r>
            <a:endParaRPr b="0" i="0" sz="9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d6974486cb_0_0"/>
          <p:cNvSpPr/>
          <p:nvPr/>
        </p:nvSpPr>
        <p:spPr>
          <a:xfrm>
            <a:off x="640075" y="3097388"/>
            <a:ext cx="4222200" cy="7485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6629" rotWithShape="0" algn="bl" dir="8100000" dist="39986">
              <a:srgbClr val="000000">
                <a:alpha val="7840"/>
              </a:srgbClr>
            </a:outerShdw>
          </a:effectLst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6974486cb_0_0"/>
          <p:cNvSpPr/>
          <p:nvPr/>
        </p:nvSpPr>
        <p:spPr>
          <a:xfrm>
            <a:off x="832008" y="3135774"/>
            <a:ext cx="3838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2"/>
              <a:buFont typeface="Arial"/>
              <a:buNone/>
            </a:pPr>
            <a:r>
              <a:rPr b="1" lang="en-US" sz="1102">
                <a:solidFill>
                  <a:srgbClr val="111827"/>
                </a:solidFill>
              </a:rPr>
              <a:t>Poor virtual tour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d6974486cb_0_0"/>
          <p:cNvSpPr/>
          <p:nvPr/>
        </p:nvSpPr>
        <p:spPr>
          <a:xfrm>
            <a:off x="832008" y="3385286"/>
            <a:ext cx="38388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45"/>
              <a:buFont typeface="Arial"/>
              <a:buNone/>
            </a:pPr>
            <a:r>
              <a:rPr lang="en-US" sz="945">
                <a:solidFill>
                  <a:srgbClr val="6B7280"/>
                </a:solidFill>
              </a:rPr>
              <a:t>Poor virtual tour both for BIST and BGA</a:t>
            </a:r>
            <a:endParaRPr b="0" i="0" sz="9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d6974486cb_0_0"/>
          <p:cNvSpPr/>
          <p:nvPr/>
        </p:nvSpPr>
        <p:spPr>
          <a:xfrm>
            <a:off x="640075" y="3097388"/>
            <a:ext cx="76800" cy="748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  <p:sp>
        <p:nvSpPr>
          <p:cNvPr id="197" name="Google Shape;197;g3d6974486cb_0_0"/>
          <p:cNvSpPr/>
          <p:nvPr/>
        </p:nvSpPr>
        <p:spPr>
          <a:xfrm>
            <a:off x="640075" y="4113688"/>
            <a:ext cx="4222200" cy="748500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>
            <a:noFill/>
          </a:ln>
          <a:effectLst>
            <a:outerShdw blurRad="106629" rotWithShape="0" algn="bl" dir="8100000" dist="39986">
              <a:srgbClr val="000000">
                <a:alpha val="7840"/>
              </a:srgbClr>
            </a:outerShdw>
          </a:effectLst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6974486cb_0_0"/>
          <p:cNvSpPr/>
          <p:nvPr/>
        </p:nvSpPr>
        <p:spPr>
          <a:xfrm>
            <a:off x="832008" y="4152074"/>
            <a:ext cx="38388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2"/>
              <a:buFont typeface="Arial"/>
              <a:buNone/>
            </a:pPr>
            <a:r>
              <a:rPr b="1" lang="en-US" sz="1102">
                <a:solidFill>
                  <a:srgbClr val="111827"/>
                </a:solidFill>
              </a:rPr>
              <a:t>Communication mismatch with the target audience</a:t>
            </a:r>
            <a:endParaRPr b="0" i="0" sz="11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d6974486cb_0_0"/>
          <p:cNvSpPr/>
          <p:nvPr/>
        </p:nvSpPr>
        <p:spPr>
          <a:xfrm>
            <a:off x="832008" y="4401586"/>
            <a:ext cx="38388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45"/>
              <a:buFont typeface="Arial"/>
              <a:buNone/>
            </a:pPr>
            <a:r>
              <a:rPr lang="en-US" sz="945">
                <a:solidFill>
                  <a:srgbClr val="6B7280"/>
                </a:solidFill>
              </a:rPr>
              <a:t>Content and communication does not match target audience and ICP. It </a:t>
            </a:r>
            <a:r>
              <a:rPr lang="en-US" sz="945">
                <a:solidFill>
                  <a:srgbClr val="6B7280"/>
                </a:solidFill>
              </a:rPr>
              <a:t>requires</a:t>
            </a:r>
            <a:r>
              <a:rPr lang="en-US" sz="945">
                <a:solidFill>
                  <a:srgbClr val="6B7280"/>
                </a:solidFill>
              </a:rPr>
              <a:t> more luxurious/well-branded communication</a:t>
            </a:r>
            <a:endParaRPr b="0" i="0" sz="9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d6974486cb_0_0"/>
          <p:cNvSpPr/>
          <p:nvPr/>
        </p:nvSpPr>
        <p:spPr>
          <a:xfrm>
            <a:off x="640075" y="4113688"/>
            <a:ext cx="76800" cy="748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5950" lIns="95950" spcFirstLastPara="1" rIns="95950" wrap="square" tIns="95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6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6974486cb_0_89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11827"/>
                </a:solidFill>
              </a:rPr>
              <a:t>SEO overlap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g3d6974486cb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420"/>
            <a:ext cx="8465892" cy="401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Growth Opportunities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" y="1097280"/>
            <a:ext cx="2651760" cy="1463040"/>
          </a:xfrm>
          <a:prstGeom prst="roundRect">
            <a:avLst>
              <a:gd fmla="val 75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594360" y="1234440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3167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University destination marketing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BIST alumni at top unis </a:t>
            </a:r>
            <a:r>
              <a:rPr lang="en-US" sz="900">
                <a:solidFill>
                  <a:srgbClr val="6B7280"/>
                </a:solidFill>
              </a:rPr>
              <a:t>- </a:t>
            </a: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barely marketed.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337560" y="1097280"/>
            <a:ext cx="2651760" cy="1463040"/>
          </a:xfrm>
          <a:prstGeom prst="roundRect">
            <a:avLst>
              <a:gd fmla="val 75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474720" y="1234440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7016" y="13167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3474720" y="1737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Early Years entry funnel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3474720" y="20116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Ages 2-5: highest potential lifetime value.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217920" y="1097280"/>
            <a:ext cx="2651760" cy="1463040"/>
          </a:xfrm>
          <a:prstGeom prst="roundRect">
            <a:avLst>
              <a:gd fmla="val 75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355080" y="1234440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7376" y="13167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6355080" y="1737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Expat relocation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355080" y="20116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 school targets relocation agents.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2880350"/>
            <a:ext cx="2651700" cy="1463100"/>
          </a:xfrm>
          <a:prstGeom prst="roundRect">
            <a:avLst>
              <a:gd fmla="val 7500" name="adj"/>
            </a:avLst>
          </a:prstGeom>
          <a:solidFill>
            <a:srgbClr val="EC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94360" y="3017520"/>
            <a:ext cx="411480" cy="41148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" y="309981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594360" y="35204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SEO + GEO (AI Search)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94360" y="37947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Optimize for Google AND AI engines.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3337552" y="2916925"/>
            <a:ext cx="2651700" cy="1463100"/>
          </a:xfrm>
          <a:prstGeom prst="roundRect">
            <a:avLst>
              <a:gd fmla="val 75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3474715" y="3054095"/>
            <a:ext cx="411600" cy="4116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57011" y="3136391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3474715" y="355701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Referral program at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474715" y="3831335"/>
            <a:ext cx="37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WOM #1 driver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217895" y="2916930"/>
            <a:ext cx="2651700" cy="1463100"/>
          </a:xfrm>
          <a:prstGeom prst="roundRect">
            <a:avLst>
              <a:gd fmla="val 75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355055" y="3054090"/>
            <a:ext cx="411600" cy="4116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7351" y="313638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6355055" y="3557010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11827"/>
                </a:solidFill>
              </a:rPr>
              <a:t>Changing trend - FROM US to British education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355055" y="383133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7280"/>
                </a:solidFill>
              </a:rPr>
              <a:t>As a longrun strategy it’s important to change trend from US to British education.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g3d6974486cb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49156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3d6974486cb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763" y="0"/>
            <a:ext cx="655247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731520" y="77375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BIST: 12-Month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Growth Strategy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31520" y="329184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BIST: Ideal </a:t>
            </a:r>
            <a:r>
              <a:rPr b="1" lang="en-US" sz="2800">
                <a:solidFill>
                  <a:srgbClr val="111827"/>
                </a:solidFill>
              </a:rPr>
              <a:t>c</a:t>
            </a: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ustomer </a:t>
            </a:r>
            <a:r>
              <a:rPr b="1" lang="en-US" sz="2800">
                <a:solidFill>
                  <a:srgbClr val="111827"/>
                </a:solidFill>
              </a:rPr>
              <a:t>p</a:t>
            </a: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rofile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731520" y="1234440"/>
            <a:ext cx="2286000" cy="3383280"/>
          </a:xfrm>
          <a:prstGeom prst="roundRect">
            <a:avLst>
              <a:gd fmla="val 48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1417320" y="1463040"/>
            <a:ext cx="914400" cy="91440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645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731520" y="2514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Sarah &amp; James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31520" y="27889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Expat Family, Tbilisi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31520" y="3108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Age 35-45 | UK/US Origin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NGO / Embassy / Corporate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 children (ages 4 &amp; 8)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Income: $150-200K+/y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291840" y="128016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291840" y="1463060"/>
            <a:ext cx="512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British curriculum | Global university | Safe multicultural | Pastoral care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3291840" y="208483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Pain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291840" y="2313432"/>
            <a:ext cx="5120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Limited time (relocating) | Unclear fees | Mid-year entry needed | Cultural exposure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291840" y="288950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Decision/Awareness Triggers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291840" y="3118104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Google 'international school Tbilisi' | Relocation agent | Embassy list | Expat FB group/ WOM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291840" y="369417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Top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291840" y="3922776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Google Search (70%) | Facebook expat groups | Relocation agent | bist.ge + virtual tour/ Community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6974486cb_0_64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BIST: Ideal </a:t>
            </a:r>
            <a:r>
              <a:rPr b="1" lang="en-US" sz="2800">
                <a:solidFill>
                  <a:srgbClr val="111827"/>
                </a:solidFill>
              </a:rPr>
              <a:t>c</a:t>
            </a: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ustomer </a:t>
            </a:r>
            <a:r>
              <a:rPr b="1" lang="en-US" sz="2800">
                <a:solidFill>
                  <a:srgbClr val="111827"/>
                </a:solidFill>
              </a:rPr>
              <a:t>p</a:t>
            </a: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rofile </a:t>
            </a:r>
            <a:r>
              <a:rPr b="1" lang="en-US" sz="2800">
                <a:solidFill>
                  <a:srgbClr val="111827"/>
                </a:solidFill>
              </a:rPr>
              <a:t>custdev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d6974486cb_0_64"/>
          <p:cNvSpPr/>
          <p:nvPr/>
        </p:nvSpPr>
        <p:spPr>
          <a:xfrm>
            <a:off x="640075" y="1519650"/>
            <a:ext cx="671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2300">
                <a:solidFill>
                  <a:srgbClr val="6B7280"/>
                </a:solidFill>
              </a:rPr>
              <a:t>Would love to hear your version and insights of ICP. Customer development will also help us to understand customers more precisely 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BIST: Marketing Funnel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57200" y="914400"/>
            <a:ext cx="4114800" cy="457200"/>
          </a:xfrm>
          <a:prstGeom prst="roundRect">
            <a:avLst>
              <a:gd fmla="val 16000" name="adj"/>
            </a:avLst>
          </a:prstGeom>
          <a:solidFill>
            <a:srgbClr val="3730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48640" y="9144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Awareness (10,000)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457200" y="137160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20-25%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Meta | Google Display | YouTube | SEO+GEO | PR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09828" y="1554480"/>
            <a:ext cx="3209544" cy="457200"/>
          </a:xfrm>
          <a:prstGeom prst="roundRect">
            <a:avLst>
              <a:gd fmla="val 16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1001268" y="1554480"/>
            <a:ext cx="30266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Interest (2,000)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57200" y="201168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3-5%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846320" y="1554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Search Ads | Retargeting | Blog | Email | Tour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321308" y="2194560"/>
            <a:ext cx="2386584" cy="457200"/>
          </a:xfrm>
          <a:prstGeom prst="roundRect">
            <a:avLst>
              <a:gd fmla="val 16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1412748" y="2194560"/>
            <a:ext cx="22037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Enquiry (60)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57200" y="26517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55-65%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846320" y="2194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CRM auto-response | WhatsApp | Phone | Scoring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650492" y="2834640"/>
            <a:ext cx="1728216" cy="457200"/>
          </a:xfrm>
          <a:prstGeom prst="roundRect">
            <a:avLst>
              <a:gd fmla="val 16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1741932" y="2834640"/>
            <a:ext cx="15453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Visit (33)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57200" y="329184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70-76%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846320" y="28346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 Days | Private tours | Tasters | Ambassadors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938528" y="3474720"/>
            <a:ext cx="1152144" cy="457200"/>
          </a:xfrm>
          <a:prstGeom prst="roundRect">
            <a:avLst>
              <a:gd fmla="val 16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2029968" y="3474720"/>
            <a:ext cx="969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Application (23)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57200" y="393192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70-75%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846320" y="34747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Online app | Assessment | $325K Scholarship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2144268" y="4114800"/>
            <a:ext cx="740664" cy="457200"/>
          </a:xfrm>
          <a:prstGeom prst="roundRect">
            <a:avLst>
              <a:gd fmla="val 16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2235708" y="4114800"/>
            <a:ext cx="5577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Enrolled (16)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846320" y="41148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Welcome pack | Onboarding | Buddy | Portal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846320" y="4297680"/>
            <a:ext cx="3840480" cy="457200"/>
          </a:xfrm>
          <a:prstGeom prst="roundRect">
            <a:avLst>
              <a:gd fmla="val 2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4846320" y="42976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LTV:CAC = 5 - 5.5 :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BIST: 12-Month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27432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27432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M1-3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27432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27432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"/>
          <p:cNvSpPr/>
          <p:nvPr/>
        </p:nvSpPr>
        <p:spPr>
          <a:xfrm>
            <a:off x="566940" y="1463036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Marketing audit + analytics + </a:t>
            </a:r>
            <a:r>
              <a:rPr lang="en-US" sz="900">
                <a:solidFill>
                  <a:srgbClr val="111827"/>
                </a:solidFill>
              </a:rPr>
              <a:t>Custdev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2"/>
          <p:cNvSpPr/>
          <p:nvPr/>
        </p:nvSpPr>
        <p:spPr>
          <a:xfrm>
            <a:off x="566990" y="191566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CRM setup + lead scoring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/>
          <p:nvPr/>
        </p:nvSpPr>
        <p:spPr>
          <a:xfrm>
            <a:off x="566990" y="2425451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Website conversion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/>
          <p:nvPr/>
        </p:nvSpPr>
        <p:spPr>
          <a:xfrm>
            <a:off x="566940" y="293523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SEO+GEO: target keywords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/>
          <p:nvPr/>
        </p:nvSpPr>
        <p:spPr>
          <a:xfrm>
            <a:off x="566940" y="343815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Google Search campaigns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2"/>
          <p:cNvSpPr/>
          <p:nvPr/>
        </p:nvSpPr>
        <p:spPr>
          <a:xfrm>
            <a:off x="566940" y="394107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</a:t>
            </a:r>
            <a:r>
              <a:rPr lang="en-US" sz="900">
                <a:solidFill>
                  <a:srgbClr val="111827"/>
                </a:solidFill>
              </a:rPr>
              <a:t>t + marketing strategy and first campaigns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251460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251460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M4-6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251460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251460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2820945" y="141817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 Day campaign (peak)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2"/>
          <p:cNvSpPr/>
          <p:nvPr/>
        </p:nvSpPr>
        <p:spPr>
          <a:xfrm>
            <a:off x="2807257" y="1921956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Meta lookalike/custom audiences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2"/>
          <p:cNvSpPr/>
          <p:nvPr/>
        </p:nvSpPr>
        <p:spPr>
          <a:xfrm>
            <a:off x="2807257" y="2423151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Relocation agent partnerships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7" name="Google Shape;3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2734057" y="2912371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Little Learners tasters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2"/>
          <p:cNvSpPr/>
          <p:nvPr/>
        </p:nvSpPr>
        <p:spPr>
          <a:xfrm>
            <a:off x="2807257" y="3415291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Video: campus + testimonials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1" name="Google Shape;3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2798070" y="391822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Email nurture sequences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75488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475488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M7-9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75488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75488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5074938" y="146304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A/B test pages + creative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5074950" y="193624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Retargeting visited-not-applied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2"/>
          <p:cNvSpPr/>
          <p:nvPr/>
        </p:nvSpPr>
        <p:spPr>
          <a:xfrm>
            <a:off x="5074950" y="242428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YouTube pre-roll stories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3" name="Google Shape;3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2"/>
          <p:cNvSpPr/>
          <p:nvPr/>
        </p:nvSpPr>
        <p:spPr>
          <a:xfrm>
            <a:off x="5074950" y="293123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 ambassador program launch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5" name="Google Shape;3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2"/>
          <p:cNvSpPr/>
          <p:nvPr/>
        </p:nvSpPr>
        <p:spPr>
          <a:xfrm>
            <a:off x="5038350" y="3447591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Embassy partnerships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7" name="Google Shape;3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/>
          <p:nvPr/>
        </p:nvSpPr>
        <p:spPr>
          <a:xfrm>
            <a:off x="5038363" y="392619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Quarterly NPS survey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699516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99516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M10-12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99516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99516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2"/>
          <p:cNvSpPr/>
          <p:nvPr/>
        </p:nvSpPr>
        <p:spPr>
          <a:xfrm>
            <a:off x="7269480" y="1431036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Intl directory listings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5" name="Google Shape;3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2"/>
          <p:cNvSpPr/>
          <p:nvPr/>
        </p:nvSpPr>
        <p:spPr>
          <a:xfrm>
            <a:off x="7269480" y="1965956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PR: university destinations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2"/>
          <p:cNvSpPr/>
          <p:nvPr/>
        </p:nvSpPr>
        <p:spPr>
          <a:xfrm>
            <a:off x="7269480" y="246886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Budget reallocation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2"/>
          <p:cNvSpPr/>
          <p:nvPr/>
        </p:nvSpPr>
        <p:spPr>
          <a:xfrm>
            <a:off x="7269480" y="291238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Pre-enrollment campaign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2"/>
          <p:cNvSpPr/>
          <p:nvPr/>
        </p:nvSpPr>
        <p:spPr>
          <a:xfrm>
            <a:off x="7269480" y="341530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Alumni video series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2"/>
          <p:cNvSpPr/>
          <p:nvPr/>
        </p:nvSpPr>
        <p:spPr>
          <a:xfrm>
            <a:off x="7278680" y="391822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Next-year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BIST: Channel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57200" y="8686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457200" y="8686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640080" y="9052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Google Ads (Search)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2468880" y="9144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2468880" y="9144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086172" y="754444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High-intent: 'international school Tbilisi'. Expat vs Georgian campaigns.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7132320" y="9052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CPL&lt;$35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457200" y="15544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457200" y="15544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640080" y="15910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Meta Ads (FB/IG)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2468880" y="16002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2468880" y="16002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3086110" y="1440181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Lookalike audiences. Interest: expat, education, relocation.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7132320" y="15910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CPL&lt;$25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57200" y="22402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457200" y="22402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640080" y="22768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SEO + GEO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2468880" y="22860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2468880" y="22860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3086110" y="2125906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20+ articles + AI-optimized for ChatGPT/Perplexity/Google AI.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7132320" y="22768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Traffic +200%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457200" y="29260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457200" y="29260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640080" y="29626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Events &amp; Open Days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2468880" y="29718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2468880" y="29718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3086172" y="2811631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 Open Days. Little Learners tasters. Embassy sessions.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7132320" y="29626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50+ families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457200" y="36118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457200" y="36118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640080" y="36484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Partnerships &amp; PR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2468880" y="36576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2468880" y="36576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3086110" y="3497356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Relocation agents. Embassy network. Georgia Today. LinkedIn.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7132320" y="36484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5+ mentions/qtr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457200" y="42976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640080" y="433425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Referral Program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2468880" y="43434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2468880" y="43434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3086110" y="4183081"/>
            <a:ext cx="393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Fee credit. 15-20 ambassadors. CRM-tracked.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7132320" y="43342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15% referrals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4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BIST: Expected Outcomes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457200" y="914400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457200" y="10972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+30%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457200" y="17830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Qualified Inquiries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457200" y="2103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Year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4"/>
          <p:cNvSpPr/>
          <p:nvPr/>
        </p:nvSpPr>
        <p:spPr>
          <a:xfrm>
            <a:off x="3337560" y="914400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3337560" y="10972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4F46E5"/>
                </a:solidFill>
              </a:rPr>
              <a:t>~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+20%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3337560" y="17830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Net Enrollment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3337560" y="2103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vs prior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6217920" y="914400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6217920" y="109728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3x ROI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6217920" y="17830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Marketing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6217920" y="21031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Revenue/$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457200" y="2834640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457200" y="30175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4F46E5"/>
                </a:solidFill>
              </a:rPr>
              <a:t>~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&lt;$35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5720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Cost Per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457200" y="40233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Blended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3337560" y="2834640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3337560" y="30175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4F46E5"/>
                </a:solidFill>
              </a:rPr>
              <a:t>~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620-650+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333756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Total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3337560" y="40233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From 520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6217920" y="2834640"/>
            <a:ext cx="2651760" cy="164592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6217920" y="30175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4F46E5"/>
                </a:solidFill>
              </a:rPr>
              <a:t>~ </a:t>
            </a:r>
            <a:r>
              <a:rPr b="1" i="0" lang="en-US" sz="36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80+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621792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Post-16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6217920" y="40233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From 54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731520" y="11065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BGA: 12-Month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Growth Strategy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731520" y="329184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Growing Georgia's leading bilingual school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6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BGA: Ideal Customer Profile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57200" y="1005840"/>
            <a:ext cx="8229600" cy="384048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6"/>
          <p:cNvSpPr/>
          <p:nvPr/>
        </p:nvSpPr>
        <p:spPr>
          <a:xfrm>
            <a:off x="731520" y="1234440"/>
            <a:ext cx="2286000" cy="3383280"/>
          </a:xfrm>
          <a:prstGeom prst="roundRect">
            <a:avLst>
              <a:gd fmla="val 48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/>
          <p:nvPr/>
        </p:nvSpPr>
        <p:spPr>
          <a:xfrm>
            <a:off x="1417320" y="1463040"/>
            <a:ext cx="914400" cy="914400"/>
          </a:xfrm>
          <a:prstGeom prst="roundRect">
            <a:avLst>
              <a:gd fmla="val 25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3" name="Google Shape;4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645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6"/>
          <p:cNvSpPr/>
          <p:nvPr/>
        </p:nvSpPr>
        <p:spPr>
          <a:xfrm>
            <a:off x="731520" y="2514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Giorgi &amp; Nino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731520" y="27889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Georgian Family, Vake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731520" y="310896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Age 32-42 | Georgian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Business / Professional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Children ages 3 &amp;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Income: 30K+ GEL/month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/>
          <p:nvPr/>
        </p:nvSpPr>
        <p:spPr>
          <a:xfrm>
            <a:off x="3291840" y="128016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Goals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3291840" y="150876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Bilingual ed | Georgian identity + global | IB for EU/US unis | Community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3291840" y="208483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Pain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3291840" y="2313432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Losing Georgian culture | IB new at BGA | Price sensitivity | Want proven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3291840" y="288950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3291840" y="3118104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Friend's recommendation | FB post/ad | Open Day | IB availability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3291840" y="369417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3291840" y="3922776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Facebook (60%) | Word of mouth | Georgian media | Instagram | bga.ge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7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BGA: 12-Month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27432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7"/>
          <p:cNvSpPr/>
          <p:nvPr/>
        </p:nvSpPr>
        <p:spPr>
          <a:xfrm>
            <a:off x="27432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M1-3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27432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27432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5" name="Google Shape;5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7"/>
          <p:cNvSpPr/>
          <p:nvPr/>
        </p:nvSpPr>
        <p:spPr>
          <a:xfrm>
            <a:off x="566990" y="141732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Audit social (37K FB)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7" name="Google Shape;5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7"/>
          <p:cNvSpPr/>
          <p:nvPr/>
        </p:nvSpPr>
        <p:spPr>
          <a:xfrm>
            <a:off x="566940" y="192024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CRM + lead scoring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9" name="Google Shape;5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7"/>
          <p:cNvSpPr/>
          <p:nvPr/>
        </p:nvSpPr>
        <p:spPr>
          <a:xfrm>
            <a:off x="566940" y="242316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Website: IB + outcomes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1" name="Google Shape;5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7"/>
          <p:cNvSpPr/>
          <p:nvPr/>
        </p:nvSpPr>
        <p:spPr>
          <a:xfrm>
            <a:off x="566940" y="292610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Georgian content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3" name="Google Shape;5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7"/>
          <p:cNvSpPr/>
          <p:nvPr/>
        </p:nvSpPr>
        <p:spPr>
          <a:xfrm>
            <a:off x="566940" y="342902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11827"/>
                </a:solidFill>
              </a:rPr>
              <a:t>Meta</a:t>
            </a: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engagement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5" name="Google Shape;5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7"/>
          <p:cNvSpPr/>
          <p:nvPr/>
        </p:nvSpPr>
        <p:spPr>
          <a:xfrm>
            <a:off x="566940" y="393194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 NPS survey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251460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7"/>
          <p:cNvSpPr/>
          <p:nvPr/>
        </p:nvSpPr>
        <p:spPr>
          <a:xfrm>
            <a:off x="251460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M4-6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251460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251460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1" name="Google Shape;5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7"/>
          <p:cNvSpPr/>
          <p:nvPr/>
        </p:nvSpPr>
        <p:spPr>
          <a:xfrm>
            <a:off x="2798070" y="1463036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Open Day: IB showcase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3" name="Google Shape;5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17"/>
          <p:cNvSpPr/>
          <p:nvPr/>
        </p:nvSpPr>
        <p:spPr>
          <a:xfrm>
            <a:off x="2798045" y="192024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Georgian media PR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5" name="Google Shape;5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7"/>
          <p:cNvSpPr/>
          <p:nvPr/>
        </p:nvSpPr>
        <p:spPr>
          <a:xfrm>
            <a:off x="2800345" y="245058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Video: alumni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7"/>
          <p:cNvSpPr/>
          <p:nvPr/>
        </p:nvSpPr>
        <p:spPr>
          <a:xfrm>
            <a:off x="2800345" y="292610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111827"/>
                </a:solidFill>
              </a:rPr>
              <a:t>Meta</a:t>
            </a: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Live: tours + Q&amp;A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9" name="Google Shape;5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17"/>
          <p:cNvSpPr/>
          <p:nvPr/>
        </p:nvSpPr>
        <p:spPr>
          <a:xfrm>
            <a:off x="2800345" y="342902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Corporate partnerships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1" name="Google Shape;5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75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7"/>
          <p:cNvSpPr/>
          <p:nvPr/>
        </p:nvSpPr>
        <p:spPr>
          <a:xfrm>
            <a:off x="2798045" y="393194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IB results press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475488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7"/>
          <p:cNvSpPr/>
          <p:nvPr/>
        </p:nvSpPr>
        <p:spPr>
          <a:xfrm>
            <a:off x="475488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M7-9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475488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475488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7" name="Google Shape;5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7"/>
          <p:cNvSpPr/>
          <p:nvPr/>
        </p:nvSpPr>
        <p:spPr>
          <a:xfrm>
            <a:off x="5033750" y="1463036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A/B Georgian vs English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9" name="Google Shape;5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17"/>
          <p:cNvSpPr/>
          <p:nvPr/>
        </p:nvSpPr>
        <p:spPr>
          <a:xfrm>
            <a:off x="5033738" y="191109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IG: student takeovers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1" name="Google Shape;5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7"/>
          <p:cNvSpPr/>
          <p:nvPr/>
        </p:nvSpPr>
        <p:spPr>
          <a:xfrm>
            <a:off x="5034875" y="241858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University showcase event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3" name="Google Shape;5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17"/>
          <p:cNvSpPr/>
          <p:nvPr/>
        </p:nvSpPr>
        <p:spPr>
          <a:xfrm>
            <a:off x="5033738" y="292610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Cross-campus summer camp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5" name="Google Shape;5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7"/>
          <p:cNvSpPr/>
          <p:nvPr/>
        </p:nvSpPr>
        <p:spPr>
          <a:xfrm>
            <a:off x="5033738" y="338332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Ambassador recruitment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7" name="Google Shape;5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803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17"/>
          <p:cNvSpPr/>
          <p:nvPr/>
        </p:nvSpPr>
        <p:spPr>
          <a:xfrm>
            <a:off x="5033750" y="3941061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Quarterly NPS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6995160" y="868680"/>
            <a:ext cx="2103120" cy="502920"/>
          </a:xfrm>
          <a:prstGeom prst="roundRect">
            <a:avLst>
              <a:gd fmla="val 18182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6995160" y="86868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M10-12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6995160" y="107899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6995160" y="1463040"/>
            <a:ext cx="2103120" cy="329184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3" name="Google Shape;5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15727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7"/>
          <p:cNvSpPr/>
          <p:nvPr/>
        </p:nvSpPr>
        <p:spPr>
          <a:xfrm>
            <a:off x="7269430" y="141732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Re-enrollment (Jan)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5" name="Google Shape;5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207568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7"/>
          <p:cNvSpPr/>
          <p:nvPr/>
        </p:nvSpPr>
        <p:spPr>
          <a:xfrm>
            <a:off x="7269430" y="195224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Annual gala + awards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7" name="Google Shape;5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257860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17"/>
          <p:cNvSpPr/>
          <p:nvPr/>
        </p:nvSpPr>
        <p:spPr>
          <a:xfrm>
            <a:off x="7269393" y="242316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IB destinations campaign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9" name="Google Shape;56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30815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17"/>
          <p:cNvSpPr/>
          <p:nvPr/>
        </p:nvSpPr>
        <p:spPr>
          <a:xfrm>
            <a:off x="7269455" y="293523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2027 strategy + budget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1" name="Google Shape;5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358444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17"/>
          <p:cNvSpPr/>
          <p:nvPr/>
        </p:nvSpPr>
        <p:spPr>
          <a:xfrm>
            <a:off x="7269455" y="3447278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Alumni 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3" name="Google Shape;5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408736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17"/>
          <p:cNvSpPr/>
          <p:nvPr/>
        </p:nvSpPr>
        <p:spPr>
          <a:xfrm>
            <a:off x="7269455" y="3959323"/>
            <a:ext cx="1737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Brand visual refresh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BGA: Channel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457200" y="8686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8"/>
          <p:cNvSpPr/>
          <p:nvPr/>
        </p:nvSpPr>
        <p:spPr>
          <a:xfrm>
            <a:off x="457200" y="8686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640080" y="90525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11827"/>
                </a:solidFill>
              </a:rPr>
              <a:t>Meta (Fb/Ig) </a:t>
            </a: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(Organic+Paid)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/>
          <p:nvPr/>
        </p:nvSpPr>
        <p:spPr>
          <a:xfrm>
            <a:off x="2651760" y="9144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8"/>
          <p:cNvSpPr/>
          <p:nvPr/>
        </p:nvSpPr>
        <p:spPr>
          <a:xfrm>
            <a:off x="2651760" y="9144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3268978" y="754381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37K base. Daily Georgian. Lookalike. FB Groups. Lives.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7132320" y="9052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Engage 5%+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457200" y="15544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8"/>
          <p:cNvSpPr/>
          <p:nvPr/>
        </p:nvSpPr>
        <p:spPr>
          <a:xfrm>
            <a:off x="457200" y="15544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8"/>
          <p:cNvSpPr/>
          <p:nvPr/>
        </p:nvSpPr>
        <p:spPr>
          <a:xfrm>
            <a:off x="640080" y="159105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Instagram &amp; TikTok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2651760" y="16002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8"/>
          <p:cNvSpPr/>
          <p:nvPr/>
        </p:nvSpPr>
        <p:spPr>
          <a:xfrm>
            <a:off x="2651760" y="16002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3268978" y="1440181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Student reels, day-in-life. Teacher spotlights. GEO-subtitled.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7132320" y="15910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+30% followers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457200" y="22402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457200" y="22402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8"/>
          <p:cNvSpPr/>
          <p:nvPr/>
        </p:nvSpPr>
        <p:spPr>
          <a:xfrm>
            <a:off x="640080" y="227685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Google Ads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2651760" y="22860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8"/>
          <p:cNvSpPr/>
          <p:nvPr/>
        </p:nvSpPr>
        <p:spPr>
          <a:xfrm>
            <a:off x="2651760" y="22860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8"/>
          <p:cNvSpPr/>
          <p:nvPr/>
        </p:nvSpPr>
        <p:spPr>
          <a:xfrm>
            <a:off x="3268978" y="2125981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Georgian + English. 'IB school Tbilisi'. Comparison pages.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7132320" y="22768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CPL&lt;$30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457200" y="29260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8"/>
          <p:cNvSpPr/>
          <p:nvPr/>
        </p:nvSpPr>
        <p:spPr>
          <a:xfrm>
            <a:off x="457200" y="29260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8"/>
          <p:cNvSpPr/>
          <p:nvPr/>
        </p:nvSpPr>
        <p:spPr>
          <a:xfrm>
            <a:off x="640080" y="296265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Georgian Media &amp; PR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2651760" y="29718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8"/>
          <p:cNvSpPr/>
          <p:nvPr/>
        </p:nvSpPr>
        <p:spPr>
          <a:xfrm>
            <a:off x="2651760" y="29718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3268978" y="2811781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TV segments. Local mags. IB results. Thought leadership.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7132320" y="29626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10+ mentions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457200" y="36118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8"/>
          <p:cNvSpPr/>
          <p:nvPr/>
        </p:nvSpPr>
        <p:spPr>
          <a:xfrm>
            <a:off x="457200" y="36118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8"/>
          <p:cNvSpPr/>
          <p:nvPr/>
        </p:nvSpPr>
        <p:spPr>
          <a:xfrm>
            <a:off x="640080" y="364845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Events &amp; Community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2651760" y="36576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8"/>
          <p:cNvSpPr/>
          <p:nvPr/>
        </p:nvSpPr>
        <p:spPr>
          <a:xfrm>
            <a:off x="2651760" y="36576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3268978" y="3497581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Open Days. BGA Gala. TEDx Lisi Lake. Sports tournaments.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7132320" y="36484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60+ families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457200" y="4297680"/>
            <a:ext cx="8229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8"/>
          <p:cNvSpPr/>
          <p:nvPr/>
        </p:nvSpPr>
        <p:spPr>
          <a:xfrm>
            <a:off x="457200" y="4297680"/>
            <a:ext cx="54864" cy="566928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8"/>
          <p:cNvSpPr/>
          <p:nvPr/>
        </p:nvSpPr>
        <p:spPr>
          <a:xfrm>
            <a:off x="640080" y="433425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Referral &amp; Corp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2651760" y="4343400"/>
            <a:ext cx="502920" cy="18288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2651760" y="434340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3268978" y="4183381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Fee credit. Corporate program. BIST cross-referral. Alumni.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7132320" y="433425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20% referrals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6e84ba5c3_0_46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BGA: Expected Outcomes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g3d6e84ba5c3_0_46"/>
          <p:cNvSpPr/>
          <p:nvPr/>
        </p:nvSpPr>
        <p:spPr>
          <a:xfrm>
            <a:off x="457200" y="914400"/>
            <a:ext cx="2651700" cy="164580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d6e84ba5c3_0_46"/>
          <p:cNvSpPr/>
          <p:nvPr/>
        </p:nvSpPr>
        <p:spPr>
          <a:xfrm>
            <a:off x="457200" y="109728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+25%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g3d6e84ba5c3_0_46"/>
          <p:cNvSpPr/>
          <p:nvPr/>
        </p:nvSpPr>
        <p:spPr>
          <a:xfrm>
            <a:off x="457200" y="17830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Qualified Inquiries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3d6e84ba5c3_0_46"/>
          <p:cNvSpPr/>
          <p:nvPr/>
        </p:nvSpPr>
        <p:spPr>
          <a:xfrm>
            <a:off x="457200" y="210312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Year 1 from all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d6e84ba5c3_0_46"/>
          <p:cNvSpPr/>
          <p:nvPr/>
        </p:nvSpPr>
        <p:spPr>
          <a:xfrm>
            <a:off x="3337560" y="914400"/>
            <a:ext cx="2651700" cy="164580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d6e84ba5c3_0_46"/>
          <p:cNvSpPr/>
          <p:nvPr/>
        </p:nvSpPr>
        <p:spPr>
          <a:xfrm>
            <a:off x="3337560" y="109728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+15%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g3d6e84ba5c3_0_46"/>
          <p:cNvSpPr/>
          <p:nvPr/>
        </p:nvSpPr>
        <p:spPr>
          <a:xfrm>
            <a:off x="3337560" y="17830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Net Enrollment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d6e84ba5c3_0_46"/>
          <p:cNvSpPr/>
          <p:nvPr/>
        </p:nvSpPr>
        <p:spPr>
          <a:xfrm>
            <a:off x="3337560" y="210312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New students vs prior year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d6e84ba5c3_0_46"/>
          <p:cNvSpPr/>
          <p:nvPr/>
        </p:nvSpPr>
        <p:spPr>
          <a:xfrm>
            <a:off x="6217920" y="914400"/>
            <a:ext cx="2651700" cy="164580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d6e84ba5c3_0_46"/>
          <p:cNvSpPr/>
          <p:nvPr/>
        </p:nvSpPr>
        <p:spPr>
          <a:xfrm>
            <a:off x="6217920" y="109728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3x ROI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d6e84ba5c3_0_46"/>
          <p:cNvSpPr/>
          <p:nvPr/>
        </p:nvSpPr>
        <p:spPr>
          <a:xfrm>
            <a:off x="6217920" y="178308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Marketing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d6e84ba5c3_0_46"/>
          <p:cNvSpPr/>
          <p:nvPr/>
        </p:nvSpPr>
        <p:spPr>
          <a:xfrm>
            <a:off x="6217920" y="210312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Revenue per marketing dollar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3d6e84ba5c3_0_46"/>
          <p:cNvSpPr/>
          <p:nvPr/>
        </p:nvSpPr>
        <p:spPr>
          <a:xfrm>
            <a:off x="457200" y="2834640"/>
            <a:ext cx="2651700" cy="164580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d6e84ba5c3_0_46"/>
          <p:cNvSpPr/>
          <p:nvPr/>
        </p:nvSpPr>
        <p:spPr>
          <a:xfrm>
            <a:off x="457200" y="301752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&lt;$20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g3d6e84ba5c3_0_46"/>
          <p:cNvSpPr/>
          <p:nvPr/>
        </p:nvSpPr>
        <p:spPr>
          <a:xfrm>
            <a:off x="457200" y="370332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Cost Per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g3d6e84ba5c3_0_46"/>
          <p:cNvSpPr/>
          <p:nvPr/>
        </p:nvSpPr>
        <p:spPr>
          <a:xfrm>
            <a:off x="457200" y="402336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Blended (Facebook-heavy)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g3d6e84ba5c3_0_46"/>
          <p:cNvSpPr/>
          <p:nvPr/>
        </p:nvSpPr>
        <p:spPr>
          <a:xfrm>
            <a:off x="3337560" y="2834640"/>
            <a:ext cx="2651700" cy="164580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d6e84ba5c3_0_46"/>
          <p:cNvSpPr/>
          <p:nvPr/>
        </p:nvSpPr>
        <p:spPr>
          <a:xfrm>
            <a:off x="3337560" y="301752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600+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d6e84ba5c3_0_46"/>
          <p:cNvSpPr/>
          <p:nvPr/>
        </p:nvSpPr>
        <p:spPr>
          <a:xfrm>
            <a:off x="3337560" y="370332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Total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d6e84ba5c3_0_46"/>
          <p:cNvSpPr/>
          <p:nvPr/>
        </p:nvSpPr>
        <p:spPr>
          <a:xfrm>
            <a:off x="3337560" y="402336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From ~500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g3d6e84ba5c3_0_46"/>
          <p:cNvSpPr/>
          <p:nvPr/>
        </p:nvSpPr>
        <p:spPr>
          <a:xfrm>
            <a:off x="6217920" y="2834640"/>
            <a:ext cx="2651700" cy="1645800"/>
          </a:xfrm>
          <a:prstGeom prst="roundRect">
            <a:avLst>
              <a:gd fmla="val 6667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d6e84ba5c3_0_46"/>
          <p:cNvSpPr/>
          <p:nvPr/>
        </p:nvSpPr>
        <p:spPr>
          <a:xfrm>
            <a:off x="6217920" y="3017520"/>
            <a:ext cx="2651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NPS 50+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d6e84ba5c3_0_46"/>
          <p:cNvSpPr/>
          <p:nvPr/>
        </p:nvSpPr>
        <p:spPr>
          <a:xfrm>
            <a:off x="6217920" y="3703320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 Satisfaction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3d6e84ba5c3_0_46"/>
          <p:cNvSpPr/>
          <p:nvPr/>
        </p:nvSpPr>
        <p:spPr>
          <a:xfrm>
            <a:off x="6217920" y="402336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Quarterly measurement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9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Brand Architecture: BIST vs BGA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Clear differentiation prevents cannibalization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9"/>
          <p:cNvSpPr/>
          <p:nvPr/>
        </p:nvSpPr>
        <p:spPr>
          <a:xfrm>
            <a:off x="457200" y="1188720"/>
            <a:ext cx="3840480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9"/>
          <p:cNvSpPr/>
          <p:nvPr/>
        </p:nvSpPr>
        <p:spPr>
          <a:xfrm>
            <a:off x="457200" y="1188720"/>
            <a:ext cx="3840480" cy="411480"/>
          </a:xfrm>
          <a:prstGeom prst="roundRect">
            <a:avLst>
              <a:gd fmla="val 2666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9"/>
          <p:cNvSpPr/>
          <p:nvPr/>
        </p:nvSpPr>
        <p:spPr>
          <a:xfrm>
            <a:off x="457200" y="1389888"/>
            <a:ext cx="3840480" cy="2103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9"/>
          <p:cNvSpPr/>
          <p:nvPr/>
        </p:nvSpPr>
        <p:spPr>
          <a:xfrm>
            <a:off x="548640" y="120700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BIST: "World-Class British Education"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640080" y="17373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Audience: International / Expat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640080" y="206654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Language: 100% English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9"/>
          <p:cNvSpPr/>
          <p:nvPr/>
        </p:nvSpPr>
        <p:spPr>
          <a:xfrm>
            <a:off x="640080" y="239572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Curriculum: Cambridge (IGCSE+A-Level)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/>
          <p:nvPr/>
        </p:nvSpPr>
        <p:spPr>
          <a:xfrm>
            <a:off x="64008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Identity: Global citizen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9"/>
          <p:cNvSpPr/>
          <p:nvPr/>
        </p:nvSpPr>
        <p:spPr>
          <a:xfrm>
            <a:off x="640080" y="30540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Hook: "Where 50 nationalities thrive"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9"/>
          <p:cNvSpPr/>
          <p:nvPr/>
        </p:nvSpPr>
        <p:spPr>
          <a:xfrm>
            <a:off x="4846320" y="1188720"/>
            <a:ext cx="3840480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9"/>
          <p:cNvSpPr/>
          <p:nvPr/>
        </p:nvSpPr>
        <p:spPr>
          <a:xfrm>
            <a:off x="4846320" y="1188720"/>
            <a:ext cx="3840480" cy="411480"/>
          </a:xfrm>
          <a:prstGeom prst="roundRect">
            <a:avLst>
              <a:gd fmla="val 26667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9"/>
          <p:cNvSpPr/>
          <p:nvPr/>
        </p:nvSpPr>
        <p:spPr>
          <a:xfrm>
            <a:off x="4846320" y="1389888"/>
            <a:ext cx="3840480" cy="2103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9"/>
          <p:cNvSpPr/>
          <p:nvPr/>
        </p:nvSpPr>
        <p:spPr>
          <a:xfrm>
            <a:off x="4937760" y="120700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BGA: "Georgian Roots, Global Reach"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5029200" y="17373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Audience: Georgian + mixed families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9"/>
          <p:cNvSpPr/>
          <p:nvPr/>
        </p:nvSpPr>
        <p:spPr>
          <a:xfrm>
            <a:off x="5029200" y="2066544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Language: Bilingual EN+GE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9"/>
          <p:cNvSpPr/>
          <p:nvPr/>
        </p:nvSpPr>
        <p:spPr>
          <a:xfrm>
            <a:off x="5029200" y="239572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Curriculum: Cambridge+IB+Georgian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9"/>
          <p:cNvSpPr/>
          <p:nvPr/>
        </p:nvSpPr>
        <p:spPr>
          <a:xfrm>
            <a:off x="5029200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Identity: Georgian + global access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9"/>
          <p:cNvSpPr/>
          <p:nvPr/>
        </p:nvSpPr>
        <p:spPr>
          <a:xfrm>
            <a:off x="5029200" y="30540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Hook: "No barriers to your future"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9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fmla="val 12000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9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SHARED: Lisi Lake Campus | World-class facilities | British values | Joint summer camp | Cross-referral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d6e84ba5c3_0_2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Key Value Propositions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g3d6e84ba5c3_0_2"/>
          <p:cNvSpPr/>
          <p:nvPr/>
        </p:nvSpPr>
        <p:spPr>
          <a:xfrm>
            <a:off x="640080" y="77724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Why parents should choose BIST or BGA over every alternative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3d6e84ba5c3_0_2"/>
          <p:cNvSpPr/>
          <p:nvPr/>
        </p:nvSpPr>
        <p:spPr>
          <a:xfrm>
            <a:off x="457200" y="1143000"/>
            <a:ext cx="3840600" cy="3566100"/>
          </a:xfrm>
          <a:prstGeom prst="roundRect">
            <a:avLst>
              <a:gd fmla="val 307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d6e84ba5c3_0_2"/>
          <p:cNvSpPr/>
          <p:nvPr/>
        </p:nvSpPr>
        <p:spPr>
          <a:xfrm>
            <a:off x="457200" y="1143000"/>
            <a:ext cx="3840600" cy="411600"/>
          </a:xfrm>
          <a:prstGeom prst="roundRect">
            <a:avLst>
              <a:gd fmla="val 2666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d6e84ba5c3_0_2"/>
          <p:cNvSpPr/>
          <p:nvPr/>
        </p:nvSpPr>
        <p:spPr>
          <a:xfrm>
            <a:off x="457200" y="1344168"/>
            <a:ext cx="3840600" cy="2103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d6e84ba5c3_0_2"/>
          <p:cNvSpPr/>
          <p:nvPr/>
        </p:nvSpPr>
        <p:spPr>
          <a:xfrm>
            <a:off x="548640" y="116128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BIST </a:t>
            </a:r>
            <a:r>
              <a:rPr b="1" lang="en-US" sz="1200">
                <a:solidFill>
                  <a:srgbClr val="FFFFFF"/>
                </a:solidFill>
              </a:rPr>
              <a:t>-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Why Us Over QSI or Others?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1" name="Google Shape;691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9164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g3d6e84ba5c3_0_2"/>
          <p:cNvSpPr/>
          <p:nvPr/>
        </p:nvSpPr>
        <p:spPr>
          <a:xfrm>
            <a:off x="822960" y="164592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Only COBIS-accredited British school in Georgia </a:t>
            </a:r>
            <a:r>
              <a:rPr lang="en-US" sz="850">
                <a:solidFill>
                  <a:srgbClr val="111827"/>
                </a:solidFill>
              </a:rPr>
              <a:t>- </a:t>
            </a: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internationally verified quality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3" name="Google Shape;693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09397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g3d6e84ba5c3_0_2"/>
          <p:cNvSpPr/>
          <p:nvPr/>
        </p:nvSpPr>
        <p:spPr>
          <a:xfrm>
            <a:off x="822960" y="2048256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Cambridge IGCSE + A-Levels: the gold standard for UK and global university entry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5" name="Google Shape;695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49631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3d6e84ba5c3_0_2"/>
          <p:cNvSpPr/>
          <p:nvPr/>
        </p:nvSpPr>
        <p:spPr>
          <a:xfrm>
            <a:off x="822960" y="245059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All British or UK-trained teachers </a:t>
            </a:r>
            <a:r>
              <a:rPr lang="en-US" sz="850">
                <a:solidFill>
                  <a:srgbClr val="111827"/>
                </a:solidFill>
              </a:rPr>
              <a:t>-</a:t>
            </a: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not adapted, authentically British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7" name="Google Shape;697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89864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g3d6e84ba5c3_0_2"/>
          <p:cNvSpPr/>
          <p:nvPr/>
        </p:nvSpPr>
        <p:spPr>
          <a:xfrm>
            <a:off x="822960" y="2788953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50+ nationalities: multicultural immersion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9" name="Google Shape;699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30098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g3d6e84ba5c3_0_2"/>
          <p:cNvSpPr/>
          <p:nvPr/>
        </p:nvSpPr>
        <p:spPr>
          <a:xfrm>
            <a:off x="822960" y="3255264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17,000 sqm purpose-built Lisi Lake campus with Innovation Centre, arts, sports, different cl</a:t>
            </a:r>
            <a:r>
              <a:rPr lang="en-US" sz="850">
                <a:solidFill>
                  <a:srgbClr val="111827"/>
                </a:solidFill>
              </a:rPr>
              <a:t>ubs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1" name="Google Shape;701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70332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g3d6e84ba5c3_0_2"/>
          <p:cNvSpPr/>
          <p:nvPr/>
        </p:nvSpPr>
        <p:spPr>
          <a:xfrm>
            <a:off x="822960" y="365760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$325K Founder's Scholarship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3" name="Google Shape;703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41056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d6e84ba5c3_0_2"/>
          <p:cNvSpPr/>
          <p:nvPr/>
        </p:nvSpPr>
        <p:spPr>
          <a:xfrm>
            <a:off x="822960" y="4059936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Dedicated university counsellor: personalised pathway to top global institutions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g3d6e84ba5c3_0_2"/>
          <p:cNvSpPr/>
          <p:nvPr/>
        </p:nvSpPr>
        <p:spPr>
          <a:xfrm>
            <a:off x="4846320" y="1143000"/>
            <a:ext cx="3840600" cy="3566100"/>
          </a:xfrm>
          <a:prstGeom prst="roundRect">
            <a:avLst>
              <a:gd fmla="val 3077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d6e84ba5c3_0_2"/>
          <p:cNvSpPr/>
          <p:nvPr/>
        </p:nvSpPr>
        <p:spPr>
          <a:xfrm>
            <a:off x="4846320" y="1143000"/>
            <a:ext cx="3840600" cy="411600"/>
          </a:xfrm>
          <a:prstGeom prst="roundRect">
            <a:avLst>
              <a:gd fmla="val 26667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d6e84ba5c3_0_2"/>
          <p:cNvSpPr/>
          <p:nvPr/>
        </p:nvSpPr>
        <p:spPr>
          <a:xfrm>
            <a:off x="4846320" y="1344168"/>
            <a:ext cx="3840600" cy="2103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d6e84ba5c3_0_2"/>
          <p:cNvSpPr/>
          <p:nvPr/>
        </p:nvSpPr>
        <p:spPr>
          <a:xfrm>
            <a:off x="4937760" y="116128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BGA </a:t>
            </a:r>
            <a:r>
              <a:rPr b="1" lang="en-US" sz="1200">
                <a:solidFill>
                  <a:srgbClr val="FFFFFF"/>
                </a:solidFill>
              </a:rPr>
              <a:t>-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Us Over European School?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9" name="Google Shape;709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69164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g3d6e84ba5c3_0_2"/>
          <p:cNvSpPr/>
          <p:nvPr/>
        </p:nvSpPr>
        <p:spPr>
          <a:xfrm>
            <a:off x="5212080" y="164592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Triple pathway: IB Diploma + Cambridge + Georgian Diploma </a:t>
            </a:r>
            <a:r>
              <a:rPr lang="en-US" sz="850">
                <a:solidFill>
                  <a:srgbClr val="111827"/>
                </a:solidFill>
              </a:rPr>
              <a:t>-</a:t>
            </a: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maximum flexibility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1" name="Google Shape;711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09397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g3d6e84ba5c3_0_2"/>
          <p:cNvSpPr/>
          <p:nvPr/>
        </p:nvSpPr>
        <p:spPr>
          <a:xfrm>
            <a:off x="5212080" y="2048256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True bilingual model: Georgian identity preserved while gaining global access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3" name="Google Shape;713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49631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g3d6e84ba5c3_0_2"/>
          <p:cNvSpPr/>
          <p:nvPr/>
        </p:nvSpPr>
        <p:spPr>
          <a:xfrm>
            <a:off x="5212080" y="245059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Founded by Georgians, for Georgians </a:t>
            </a:r>
            <a:r>
              <a:rPr lang="en-US" sz="850">
                <a:solidFill>
                  <a:srgbClr val="111827"/>
                </a:solidFill>
              </a:rPr>
              <a:t>- </a:t>
            </a: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understands local values and aspirations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5" name="Google Shape;715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898648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g3d6e84ba5c3_0_2"/>
          <p:cNvSpPr/>
          <p:nvPr/>
        </p:nvSpPr>
        <p:spPr>
          <a:xfrm>
            <a:off x="5212080" y="285292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Shared campus with BIST: access to world-class British facilities and community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7" name="Google Shape;717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300984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g3d6e84ba5c3_0_2"/>
          <p:cNvSpPr/>
          <p:nvPr/>
        </p:nvSpPr>
        <p:spPr>
          <a:xfrm>
            <a:off x="5212080" y="3255264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IB Diploma opens doors to US, UK, EU universities with globally recognized credential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9" name="Google Shape;719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70332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g3d6e84ba5c3_0_2"/>
          <p:cNvSpPr/>
          <p:nvPr/>
        </p:nvSpPr>
        <p:spPr>
          <a:xfrm>
            <a:off x="5212080" y="365760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Growing IB track record </a:t>
            </a:r>
            <a:r>
              <a:rPr lang="en-US" sz="850">
                <a:solidFill>
                  <a:srgbClr val="111827"/>
                </a:solidFill>
              </a:rPr>
              <a:t>-</a:t>
            </a: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early graduates proving the pathway works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1" name="Google Shape;721;g3d6e84ba5c3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4105656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g3d6e84ba5c3_0_2"/>
          <p:cNvSpPr/>
          <p:nvPr/>
        </p:nvSpPr>
        <p:spPr>
          <a:xfrm>
            <a:off x="5212080" y="4059936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TEDx Lisi Lake, Research Conference </a:t>
            </a:r>
            <a:r>
              <a:rPr lang="en-US" sz="850">
                <a:solidFill>
                  <a:srgbClr val="111827"/>
                </a:solidFill>
              </a:rPr>
              <a:t>-</a:t>
            </a: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signature events building intellectual brand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>
            <a:off x="731520" y="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Digital Ecosystem &amp;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Generation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731520" y="329184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0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CRM, SEO+GEO, website, social, paid, analytics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SEO + GEO: Search &amp; AI Optimization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Optimizing for Google AND AI-powered answer engines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1"/>
          <p:cNvSpPr/>
          <p:nvPr/>
        </p:nvSpPr>
        <p:spPr>
          <a:xfrm>
            <a:off x="457200" y="1143000"/>
            <a:ext cx="3840480" cy="3566160"/>
          </a:xfrm>
          <a:prstGeom prst="roundRect">
            <a:avLst>
              <a:gd fmla="val 307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1"/>
          <p:cNvSpPr/>
          <p:nvPr/>
        </p:nvSpPr>
        <p:spPr>
          <a:xfrm>
            <a:off x="640080" y="1325880"/>
            <a:ext cx="502920" cy="50292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3" name="Google Shape;7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664" y="14264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1"/>
          <p:cNvSpPr/>
          <p:nvPr/>
        </p:nvSpPr>
        <p:spPr>
          <a:xfrm>
            <a:off x="128016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SEO – Search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5" name="Google Shape;7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91566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21"/>
          <p:cNvSpPr/>
          <p:nvPr/>
        </p:nvSpPr>
        <p:spPr>
          <a:xfrm>
            <a:off x="868680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Keywords: 'international school Tbilisi', 'British school Georgia'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7" name="Google Shape;7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2860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21"/>
          <p:cNvSpPr/>
          <p:nvPr/>
        </p:nvSpPr>
        <p:spPr>
          <a:xfrm>
            <a:off x="868680" y="2194493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20+ blog articles Year 1: parent guides, comparisons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9" name="Google Shape;7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7432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21"/>
          <p:cNvSpPr/>
          <p:nvPr/>
        </p:nvSpPr>
        <p:spPr>
          <a:xfrm>
            <a:off x="868680" y="2610618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Technical: speed, mobile-first, schema markup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2004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1"/>
          <p:cNvSpPr/>
          <p:nvPr/>
        </p:nvSpPr>
        <p:spPr>
          <a:xfrm>
            <a:off x="868680" y="3026755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Local: Google Business Profile, reviews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3" name="Google Shape;75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6576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21"/>
          <p:cNvSpPr/>
          <p:nvPr/>
        </p:nvSpPr>
        <p:spPr>
          <a:xfrm>
            <a:off x="868680" y="3525018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Backlinks: ISC, expat blogs, Georgian media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5" name="Google Shape;75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41148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21"/>
          <p:cNvSpPr/>
          <p:nvPr/>
        </p:nvSpPr>
        <p:spPr>
          <a:xfrm>
            <a:off x="868680" y="3986930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Target: 3,000 organic visits/month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1"/>
          <p:cNvSpPr/>
          <p:nvPr/>
        </p:nvSpPr>
        <p:spPr>
          <a:xfrm>
            <a:off x="4846320" y="1143000"/>
            <a:ext cx="3840480" cy="3566160"/>
          </a:xfrm>
          <a:prstGeom prst="roundRect">
            <a:avLst>
              <a:gd fmla="val 3077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1"/>
          <p:cNvSpPr/>
          <p:nvPr/>
        </p:nvSpPr>
        <p:spPr>
          <a:xfrm>
            <a:off x="5029200" y="1325880"/>
            <a:ext cx="502920" cy="502920"/>
          </a:xfrm>
          <a:prstGeom prst="roundRect">
            <a:avLst>
              <a:gd fmla="val 25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9" name="Google Shape;75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9784" y="14264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21"/>
          <p:cNvSpPr/>
          <p:nvPr/>
        </p:nvSpPr>
        <p:spPr>
          <a:xfrm>
            <a:off x="566928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GEO – Generative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1" name="Google Shape;76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933963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1"/>
          <p:cNvSpPr/>
          <p:nvPr/>
        </p:nvSpPr>
        <p:spPr>
          <a:xfrm>
            <a:off x="5257800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Optimize for ChatGPT, Perplexity, Google AI Overviews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3" name="Google Shape;7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2860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21"/>
          <p:cNvSpPr/>
          <p:nvPr/>
        </p:nvSpPr>
        <p:spPr>
          <a:xfrm>
            <a:off x="5257800" y="2125980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Structured FAQ pages with citation-worthy answers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5" name="Google Shape;7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27432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21"/>
          <p:cNvSpPr/>
          <p:nvPr/>
        </p:nvSpPr>
        <p:spPr>
          <a:xfrm>
            <a:off x="5257800" y="2610618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Entity optimization: knowledge graphs + AI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7" name="Google Shape;7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2004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21"/>
          <p:cNvSpPr/>
          <p:nvPr/>
        </p:nvSpPr>
        <p:spPr>
          <a:xfrm>
            <a:off x="5257800" y="3111255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Authoritative content: interviews, data-rich comparisons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9" name="Google Shape;7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6576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21"/>
          <p:cNvSpPr/>
          <p:nvPr/>
        </p:nvSpPr>
        <p:spPr>
          <a:xfrm>
            <a:off x="5257800" y="3525018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Mention strategy: high-authority education sites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1" name="Google Shape;77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4114800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21"/>
          <p:cNvSpPr/>
          <p:nvPr/>
        </p:nvSpPr>
        <p:spPr>
          <a:xfrm>
            <a:off x="5257800" y="3986930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Monitor AI-generated mentions, correct inaccuracies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d6e84ba5c3_0_107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Website &amp; Conversion Optimization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d6e84ba5c3_0_107"/>
          <p:cNvSpPr/>
          <p:nvPr/>
        </p:nvSpPr>
        <p:spPr>
          <a:xfrm>
            <a:off x="640080" y="77724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Turning visitors into inquiries </a:t>
            </a:r>
            <a:r>
              <a:rPr lang="en-US" sz="1200">
                <a:solidFill>
                  <a:srgbClr val="6B7280"/>
                </a:solidFill>
              </a:rPr>
              <a:t>-</a:t>
            </a: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every click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3d6e84ba5c3_0_107"/>
          <p:cNvSpPr/>
          <p:nvPr/>
        </p:nvSpPr>
        <p:spPr>
          <a:xfrm>
            <a:off x="457200" y="1097280"/>
            <a:ext cx="8229600" cy="777300"/>
          </a:xfrm>
          <a:prstGeom prst="roundRect">
            <a:avLst>
              <a:gd fmla="val 1176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3d6e84ba5c3_0_107"/>
          <p:cNvSpPr/>
          <p:nvPr/>
        </p:nvSpPr>
        <p:spPr>
          <a:xfrm>
            <a:off x="457200" y="1097280"/>
            <a:ext cx="73200" cy="7773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g3d6e84ba5c3_0_107"/>
          <p:cNvSpPr/>
          <p:nvPr/>
        </p:nvSpPr>
        <p:spPr>
          <a:xfrm>
            <a:off x="640080" y="123444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3" name="Google Shape;783;g3d6e84ba5c3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325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g3d6e84ba5c3_0_107"/>
          <p:cNvSpPr/>
          <p:nvPr/>
        </p:nvSpPr>
        <p:spPr>
          <a:xfrm>
            <a:off x="1234440" y="1152144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Separate BIST &amp; BGA landing pages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3d6e84ba5c3_0_107"/>
          <p:cNvSpPr/>
          <p:nvPr/>
        </p:nvSpPr>
        <p:spPr>
          <a:xfrm>
            <a:off x="1234440" y="1417320"/>
            <a:ext cx="713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Audience-specific journeys. BIST: English-first, expat-focused. BGA: Georgian-first, bilingual. Each with tailored CTAs, testimonials, and virtual tour.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g3d6e84ba5c3_0_107"/>
          <p:cNvSpPr/>
          <p:nvPr/>
        </p:nvSpPr>
        <p:spPr>
          <a:xfrm>
            <a:off x="457200" y="2011680"/>
            <a:ext cx="8229600" cy="777300"/>
          </a:xfrm>
          <a:prstGeom prst="roundRect">
            <a:avLst>
              <a:gd fmla="val 1176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g3d6e84ba5c3_0_107"/>
          <p:cNvSpPr/>
          <p:nvPr/>
        </p:nvSpPr>
        <p:spPr>
          <a:xfrm>
            <a:off x="457200" y="2011680"/>
            <a:ext cx="73200" cy="7773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g3d6e84ba5c3_0_107"/>
          <p:cNvSpPr/>
          <p:nvPr/>
        </p:nvSpPr>
        <p:spPr>
          <a:xfrm>
            <a:off x="640080" y="214884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9" name="Google Shape;789;g3d6e84ba5c3_0_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22402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g3d6e84ba5c3_0_107"/>
          <p:cNvSpPr/>
          <p:nvPr/>
        </p:nvSpPr>
        <p:spPr>
          <a:xfrm>
            <a:off x="1234440" y="2066544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Conversion-focused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g3d6e84ba5c3_0_107"/>
          <p:cNvSpPr/>
          <p:nvPr/>
        </p:nvSpPr>
        <p:spPr>
          <a:xfrm>
            <a:off x="1234440" y="2331720"/>
            <a:ext cx="713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Clear CTAs above the fold on every page. Inquiry form + WhatsApp chat widget. Virtual tour embedded. Fee transparency (range at minimum). AI chat-bot.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g3d6e84ba5c3_0_107"/>
          <p:cNvSpPr/>
          <p:nvPr/>
        </p:nvSpPr>
        <p:spPr>
          <a:xfrm>
            <a:off x="457200" y="2926080"/>
            <a:ext cx="8229600" cy="777300"/>
          </a:xfrm>
          <a:prstGeom prst="roundRect">
            <a:avLst>
              <a:gd fmla="val 1176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d6e84ba5c3_0_107"/>
          <p:cNvSpPr/>
          <p:nvPr/>
        </p:nvSpPr>
        <p:spPr>
          <a:xfrm>
            <a:off x="457200" y="2926080"/>
            <a:ext cx="73200" cy="77730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d6e84ba5c3_0_107"/>
          <p:cNvSpPr/>
          <p:nvPr/>
        </p:nvSpPr>
        <p:spPr>
          <a:xfrm>
            <a:off x="640080" y="306324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5" name="Google Shape;795;g3d6e84ba5c3_0_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1546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g3d6e84ba5c3_0_107"/>
          <p:cNvSpPr/>
          <p:nvPr/>
        </p:nvSpPr>
        <p:spPr>
          <a:xfrm>
            <a:off x="1234440" y="2980944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Mobile-first optimization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g3d6e84ba5c3_0_107"/>
          <p:cNvSpPr/>
          <p:nvPr/>
        </p:nvSpPr>
        <p:spPr>
          <a:xfrm>
            <a:off x="1234440" y="3246120"/>
            <a:ext cx="713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Parents research schools on phones during commutes, at work, in bed. Current WordPress site needs speed, UX, and mobile conversion audit.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g3d6e84ba5c3_0_107"/>
          <p:cNvSpPr/>
          <p:nvPr/>
        </p:nvSpPr>
        <p:spPr>
          <a:xfrm>
            <a:off x="457200" y="3840480"/>
            <a:ext cx="8229600" cy="777300"/>
          </a:xfrm>
          <a:prstGeom prst="roundRect">
            <a:avLst>
              <a:gd fmla="val 11765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g3d6e84ba5c3_0_107"/>
          <p:cNvSpPr/>
          <p:nvPr/>
        </p:nvSpPr>
        <p:spPr>
          <a:xfrm>
            <a:off x="457200" y="3840480"/>
            <a:ext cx="73200" cy="777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d6e84ba5c3_0_107"/>
          <p:cNvSpPr/>
          <p:nvPr/>
        </p:nvSpPr>
        <p:spPr>
          <a:xfrm>
            <a:off x="640080" y="3977640"/>
            <a:ext cx="457200" cy="457200"/>
          </a:xfrm>
          <a:prstGeom prst="roundRect">
            <a:avLst>
              <a:gd fmla="val 25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1" name="Google Shape;801;g3d6e84ba5c3_0_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4069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g3d6e84ba5c3_0_107"/>
          <p:cNvSpPr/>
          <p:nvPr/>
        </p:nvSpPr>
        <p:spPr>
          <a:xfrm>
            <a:off x="1234440" y="3895344"/>
            <a:ext cx="713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A/B testing programme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g3d6e84ba5c3_0_107"/>
          <p:cNvSpPr/>
          <p:nvPr/>
        </p:nvSpPr>
        <p:spPr>
          <a:xfrm>
            <a:off x="1234440" y="4160520"/>
            <a:ext cx="713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Test headlines, CTAs, form length, images, social proof placement. Monthly iteration cycle. Track conversion rate by audience segment.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d6e84ba5c3_0_139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Social Media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g3d6e84ba5c3_0_139"/>
          <p:cNvSpPr/>
          <p:nvPr/>
        </p:nvSpPr>
        <p:spPr>
          <a:xfrm>
            <a:off x="640080" y="77724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Platform-specific approach for both brands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d6e84ba5c3_0_139"/>
          <p:cNvSpPr/>
          <p:nvPr/>
        </p:nvSpPr>
        <p:spPr>
          <a:xfrm>
            <a:off x="457200" y="1143000"/>
            <a:ext cx="3840600" cy="356610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g3d6e84ba5c3_0_139"/>
          <p:cNvSpPr/>
          <p:nvPr/>
        </p:nvSpPr>
        <p:spPr>
          <a:xfrm>
            <a:off x="457200" y="1143000"/>
            <a:ext cx="3840600" cy="365700"/>
          </a:xfrm>
          <a:prstGeom prst="roundRect">
            <a:avLst>
              <a:gd fmla="val 3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d6e84ba5c3_0_139"/>
          <p:cNvSpPr/>
          <p:nvPr/>
        </p:nvSpPr>
        <p:spPr>
          <a:xfrm>
            <a:off x="457200" y="1298448"/>
            <a:ext cx="3840600" cy="2103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d6e84ba5c3_0_139"/>
          <p:cNvSpPr/>
          <p:nvPr/>
        </p:nvSpPr>
        <p:spPr>
          <a:xfrm>
            <a:off x="548640" y="1161288"/>
            <a:ext cx="3657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BIST Social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5" name="Google Shape;815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459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g3d6e84ba5c3_0_139"/>
          <p:cNvSpPr/>
          <p:nvPr/>
        </p:nvSpPr>
        <p:spPr>
          <a:xfrm>
            <a:off x="804672" y="1568250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Instagram (primary): campus life, student spotlights, teacher Q&amp;As. 4-5 posts/week. Reels for reach.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7" name="Google Shape;817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12140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g3d6e84ba5c3_0_139"/>
          <p:cNvSpPr/>
          <p:nvPr/>
        </p:nvSpPr>
        <p:spPr>
          <a:xfrm>
            <a:off x="804672" y="2075688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Facebook: expat group engagement, parent testimonials, Open Day events. Targeted to expat communities.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9" name="Google Shape;819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59689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g3d6e84ba5c3_0_139"/>
          <p:cNvSpPr/>
          <p:nvPr/>
        </p:nvSpPr>
        <p:spPr>
          <a:xfrm>
            <a:off x="804672" y="2480351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YouTube: virtual tour (high production), student day-in-the-life, alumni 'Where Are They Now' series.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1" name="Google Shape;821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07238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g3d6e84ba5c3_0_139"/>
          <p:cNvSpPr/>
          <p:nvPr/>
        </p:nvSpPr>
        <p:spPr>
          <a:xfrm>
            <a:off x="804672" y="2936389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LinkedIn: Principal thought leadership, university partnership announcements, teacher recruitment brand.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3" name="Google Shape;823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54787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g3d6e84ba5c3_0_139"/>
          <p:cNvSpPr/>
          <p:nvPr/>
        </p:nvSpPr>
        <p:spPr>
          <a:xfrm>
            <a:off x="804672" y="3392439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 mix: 40% student stories, 25% campus/facilities, 20% academic outcomes, 15% community events.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5" name="Google Shape;825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402336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g3d6e84ba5c3_0_139"/>
          <p:cNvSpPr/>
          <p:nvPr/>
        </p:nvSpPr>
        <p:spPr>
          <a:xfrm>
            <a:off x="804672" y="3867903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Tone: warm, international, aspirational. English-only. Professional but approachable.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g3d6e84ba5c3_0_139"/>
          <p:cNvSpPr/>
          <p:nvPr/>
        </p:nvSpPr>
        <p:spPr>
          <a:xfrm>
            <a:off x="4846320" y="1143000"/>
            <a:ext cx="3840600" cy="356610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3d6e84ba5c3_0_139"/>
          <p:cNvSpPr/>
          <p:nvPr/>
        </p:nvSpPr>
        <p:spPr>
          <a:xfrm>
            <a:off x="4846320" y="1143000"/>
            <a:ext cx="3840600" cy="365700"/>
          </a:xfrm>
          <a:prstGeom prst="roundRect">
            <a:avLst>
              <a:gd fmla="val 3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g3d6e84ba5c3_0_139"/>
          <p:cNvSpPr/>
          <p:nvPr/>
        </p:nvSpPr>
        <p:spPr>
          <a:xfrm>
            <a:off x="4846320" y="1298448"/>
            <a:ext cx="3840600" cy="2103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g3d6e84ba5c3_0_139"/>
          <p:cNvSpPr/>
          <p:nvPr/>
        </p:nvSpPr>
        <p:spPr>
          <a:xfrm>
            <a:off x="4937760" y="1161288"/>
            <a:ext cx="3657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BGA Social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1" name="Google Shape;831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6459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g3d6e84ba5c3_0_139"/>
          <p:cNvSpPr/>
          <p:nvPr/>
        </p:nvSpPr>
        <p:spPr>
          <a:xfrm>
            <a:off x="5193792" y="1467650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Facebook (primary): 37K base is the asset. Daily Georgian-language engagement. FB Lives for campus tours.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3" name="Google Shape;833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12140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g3d6e84ba5c3_0_139"/>
          <p:cNvSpPr/>
          <p:nvPr/>
        </p:nvSpPr>
        <p:spPr>
          <a:xfrm>
            <a:off x="5193792" y="2009401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Instagram: student takeovers, IB student day-in-the-life, campus reels. Georgian with English subtitles.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5" name="Google Shape;835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59689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g3d6e84ba5c3_0_139"/>
          <p:cNvSpPr/>
          <p:nvPr/>
        </p:nvSpPr>
        <p:spPr>
          <a:xfrm>
            <a:off x="5193792" y="2518039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TikTok: younger audience pipeline. Student-created content, behind-the-scenes, trending audio formats.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7" name="Google Shape;837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07238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g3d6e84ba5c3_0_139"/>
          <p:cNvSpPr/>
          <p:nvPr/>
        </p:nvSpPr>
        <p:spPr>
          <a:xfrm>
            <a:off x="5193792" y="2948939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YouTube: IB programme explainer, parent testimonials in Georgian, alumni university acceptance celebrations.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9" name="Google Shape;839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354787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g3d6e84ba5c3_0_139"/>
          <p:cNvSpPr/>
          <p:nvPr/>
        </p:nvSpPr>
        <p:spPr>
          <a:xfrm>
            <a:off x="5193792" y="3406252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 mix: 40% student/parent stories, 25% IB academic life, 20% Georgian culture integration, 15% events.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1" name="Google Shape;841;g3d6e84ba5c3_0_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402336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g3d6e84ba5c3_0_139"/>
          <p:cNvSpPr/>
          <p:nvPr/>
        </p:nvSpPr>
        <p:spPr>
          <a:xfrm>
            <a:off x="5193792" y="3863540"/>
            <a:ext cx="3291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Tone: proud, Georgian, modern, ambitious. Bilingual. Community-driven, word-of-mouth amplifier.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d6e84ba5c3_0_179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g3d6e84ba5c3_0_179"/>
          <p:cNvSpPr/>
          <p:nvPr/>
        </p:nvSpPr>
        <p:spPr>
          <a:xfrm>
            <a:off x="640080" y="77724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What to create, for whom, where, and how often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3d6e84ba5c3_0_179"/>
          <p:cNvSpPr/>
          <p:nvPr/>
        </p:nvSpPr>
        <p:spPr>
          <a:xfrm>
            <a:off x="457200" y="1051560"/>
            <a:ext cx="8229600" cy="65850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d6e84ba5c3_0_179"/>
          <p:cNvSpPr/>
          <p:nvPr/>
        </p:nvSpPr>
        <p:spPr>
          <a:xfrm>
            <a:off x="457200" y="1051560"/>
            <a:ext cx="54900" cy="6585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g3d6e84ba5c3_0_179"/>
          <p:cNvSpPr/>
          <p:nvPr/>
        </p:nvSpPr>
        <p:spPr>
          <a:xfrm>
            <a:off x="640080" y="108813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Blog / SEO+GEO Articles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3d6e84ba5c3_0_179"/>
          <p:cNvSpPr/>
          <p:nvPr/>
        </p:nvSpPr>
        <p:spPr>
          <a:xfrm>
            <a:off x="2697480" y="1097280"/>
            <a:ext cx="777300" cy="1647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g3d6e84ba5c3_0_179"/>
          <p:cNvSpPr/>
          <p:nvPr/>
        </p:nvSpPr>
        <p:spPr>
          <a:xfrm>
            <a:off x="2697480" y="1097280"/>
            <a:ext cx="77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2-3/month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g3d6e84ba5c3_0_179"/>
          <p:cNvSpPr/>
          <p:nvPr/>
        </p:nvSpPr>
        <p:spPr>
          <a:xfrm>
            <a:off x="640080" y="1325880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Parent guides ('Moving to Tbilisi with kids'), school comparisons, curriculum explainers. Bilingual. Optimized for Google + AI engines.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3d6e84ba5c3_0_179"/>
          <p:cNvSpPr/>
          <p:nvPr/>
        </p:nvSpPr>
        <p:spPr>
          <a:xfrm>
            <a:off x="457200" y="1828800"/>
            <a:ext cx="8229600" cy="6585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d6e84ba5c3_0_179"/>
          <p:cNvSpPr/>
          <p:nvPr/>
        </p:nvSpPr>
        <p:spPr>
          <a:xfrm>
            <a:off x="457200" y="1828800"/>
            <a:ext cx="54900" cy="6585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g3d6e84ba5c3_0_179"/>
          <p:cNvSpPr/>
          <p:nvPr/>
        </p:nvSpPr>
        <p:spPr>
          <a:xfrm>
            <a:off x="640080" y="186537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Video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g3d6e84ba5c3_0_179"/>
          <p:cNvSpPr/>
          <p:nvPr/>
        </p:nvSpPr>
        <p:spPr>
          <a:xfrm>
            <a:off x="2697480" y="1874520"/>
            <a:ext cx="777300" cy="1647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3d6e84ba5c3_0_179"/>
          <p:cNvSpPr/>
          <p:nvPr/>
        </p:nvSpPr>
        <p:spPr>
          <a:xfrm>
            <a:off x="2697480" y="1874520"/>
            <a:ext cx="77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</a:rPr>
              <a:t>4-6</a:t>
            </a: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/month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g3d6e84ba5c3_0_179"/>
          <p:cNvSpPr/>
          <p:nvPr/>
        </p:nvSpPr>
        <p:spPr>
          <a:xfrm>
            <a:off x="640080" y="2103120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Campus virtual tour (hero asset), student day-in-the-life, teacher introductions, parent testimonials, alumni stories. Short (60s) + long (3-5min) formats.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g3d6e84ba5c3_0_179"/>
          <p:cNvSpPr/>
          <p:nvPr/>
        </p:nvSpPr>
        <p:spPr>
          <a:xfrm>
            <a:off x="457200" y="2606040"/>
            <a:ext cx="8229600" cy="65850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d6e84ba5c3_0_179"/>
          <p:cNvSpPr/>
          <p:nvPr/>
        </p:nvSpPr>
        <p:spPr>
          <a:xfrm>
            <a:off x="457200" y="2606040"/>
            <a:ext cx="54900" cy="65850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d6e84ba5c3_0_179"/>
          <p:cNvSpPr/>
          <p:nvPr/>
        </p:nvSpPr>
        <p:spPr>
          <a:xfrm>
            <a:off x="640080" y="264261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Email Nurture Sequences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g3d6e84ba5c3_0_179"/>
          <p:cNvSpPr/>
          <p:nvPr/>
        </p:nvSpPr>
        <p:spPr>
          <a:xfrm>
            <a:off x="2697480" y="2651760"/>
            <a:ext cx="777300" cy="16470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g3d6e84ba5c3_0_179"/>
          <p:cNvSpPr/>
          <p:nvPr/>
        </p:nvSpPr>
        <p:spPr>
          <a:xfrm>
            <a:off x="2697480" y="2651760"/>
            <a:ext cx="77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g3d6e84ba5c3_0_179"/>
          <p:cNvSpPr/>
          <p:nvPr/>
        </p:nvSpPr>
        <p:spPr>
          <a:xfrm>
            <a:off x="640080" y="2880360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6-email sequence triggered by inquiry: welcome → school highlights → virtual tour → testimonial → Open Day invite → application prompt. Separate for BIST (English) and BGA (Georgian).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d6e84ba5c3_0_179"/>
          <p:cNvSpPr/>
          <p:nvPr/>
        </p:nvSpPr>
        <p:spPr>
          <a:xfrm>
            <a:off x="457200" y="3383280"/>
            <a:ext cx="8229600" cy="6585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g3d6e84ba5c3_0_179"/>
          <p:cNvSpPr/>
          <p:nvPr/>
        </p:nvSpPr>
        <p:spPr>
          <a:xfrm>
            <a:off x="457200" y="3383280"/>
            <a:ext cx="54900" cy="658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d6e84ba5c3_0_179"/>
          <p:cNvSpPr/>
          <p:nvPr/>
        </p:nvSpPr>
        <p:spPr>
          <a:xfrm>
            <a:off x="640080" y="341985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Social Media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g3d6e84ba5c3_0_179"/>
          <p:cNvSpPr/>
          <p:nvPr/>
        </p:nvSpPr>
        <p:spPr>
          <a:xfrm>
            <a:off x="2697480" y="3429000"/>
            <a:ext cx="777300" cy="1647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g3d6e84ba5c3_0_179"/>
          <p:cNvSpPr/>
          <p:nvPr/>
        </p:nvSpPr>
        <p:spPr>
          <a:xfrm>
            <a:off x="2697480" y="3429000"/>
            <a:ext cx="77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4-5/week per brand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g3d6e84ba5c3_0_179"/>
          <p:cNvSpPr/>
          <p:nvPr/>
        </p:nvSpPr>
        <p:spPr>
          <a:xfrm>
            <a:off x="640080" y="3657600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BIST: Instagram-first, English, international tone. BGA: Facebook-first, Georgian, community tone. Monthly content calendar with themed weeks.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d6e84ba5c3_0_179"/>
          <p:cNvSpPr/>
          <p:nvPr/>
        </p:nvSpPr>
        <p:spPr>
          <a:xfrm>
            <a:off x="457200" y="4160520"/>
            <a:ext cx="8229600" cy="65850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d6e84ba5c3_0_179"/>
          <p:cNvSpPr/>
          <p:nvPr/>
        </p:nvSpPr>
        <p:spPr>
          <a:xfrm>
            <a:off x="457200" y="4160520"/>
            <a:ext cx="54900" cy="6585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g3d6e84ba5c3_0_179"/>
          <p:cNvSpPr/>
          <p:nvPr/>
        </p:nvSpPr>
        <p:spPr>
          <a:xfrm>
            <a:off x="640080" y="4197096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Print &amp; Event Collateral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3d6e84ba5c3_0_179"/>
          <p:cNvSpPr/>
          <p:nvPr/>
        </p:nvSpPr>
        <p:spPr>
          <a:xfrm>
            <a:off x="2697480" y="4206240"/>
            <a:ext cx="777300" cy="1647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d6e84ba5c3_0_179"/>
          <p:cNvSpPr/>
          <p:nvPr/>
        </p:nvSpPr>
        <p:spPr>
          <a:xfrm>
            <a:off x="2697480" y="4206240"/>
            <a:ext cx="77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Quarterly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d6e84ba5c3_0_179"/>
          <p:cNvSpPr/>
          <p:nvPr/>
        </p:nvSpPr>
        <p:spPr>
          <a:xfrm>
            <a:off x="640080" y="4434840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Open Day brochures, welcome packs, campus maps, scholarship guides. High-quality design aligned with brand architecture.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6e84ba5c3_0_217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&amp; Analytics Framework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6" name="Google Shape;886;g3d6e84ba5c3_0_217"/>
          <p:cNvGraphicFramePr/>
          <p:nvPr/>
        </p:nvGraphicFramePr>
        <p:xfrm>
          <a:off x="45720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{C1482E9A-F7A2-44C7-ACF2-824FCFC072FA}</a:tableStyleId>
              </a:tblPr>
              <a:tblGrid>
                <a:gridCol w="2560325"/>
                <a:gridCol w="2011675"/>
                <a:gridCol w="1188725"/>
                <a:gridCol w="2468875"/>
              </a:tblGrid>
              <a:tr h="12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Tool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Frequency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</a:t>
                      </a:r>
                      <a:endParaRPr sz="9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46E5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Website traffic + conversion rate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GA4 + Looker Studio + HotJa</a:t>
                      </a:r>
                      <a:r>
                        <a:rPr lang="en-US" sz="900">
                          <a:solidFill>
                            <a:srgbClr val="111827"/>
                          </a:solidFill>
                        </a:rPr>
                        <a:t>r for UX check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Advertiser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 quality + pipeline stage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CRM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Sr. Account Manager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 performance (CPC, CPL, ROAS)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Google/Meta dashboards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Advertiser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Social engagement + growth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Native analytics + scheduling tool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Bi-weekly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Copywriter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Enrollment funnel (inquiry to enrolled)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CRM custom reports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Sr. Account Manager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Brand sentiment + NPS score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Survey tools + Google Reviews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Quarterly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Sr. Account Manager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SEO+GEO performance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Semrush + AI mention tracking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Monthly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Copywriter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 per enrolled student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CRM + finance data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Quarterly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Sr. Account Manager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3500" marL="63500">
                    <a:lnL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3F4F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2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CRM Lead Lifecycle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2"/>
          <p:cNvSpPr/>
          <p:nvPr/>
        </p:nvSpPr>
        <p:spPr>
          <a:xfrm>
            <a:off x="960120" y="10972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2"/>
          <p:cNvSpPr/>
          <p:nvPr/>
        </p:nvSpPr>
        <p:spPr>
          <a:xfrm>
            <a:off x="457200" y="11704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2"/>
          <p:cNvSpPr/>
          <p:nvPr/>
        </p:nvSpPr>
        <p:spPr>
          <a:xfrm>
            <a:off x="457200" y="11704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2"/>
          <p:cNvSpPr/>
          <p:nvPr/>
        </p:nvSpPr>
        <p:spPr>
          <a:xfrm>
            <a:off x="1097280" y="11338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Lead Capture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2"/>
          <p:cNvSpPr/>
          <p:nvPr/>
        </p:nvSpPr>
        <p:spPr>
          <a:xfrm>
            <a:off x="1097280" y="13716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Auto-create with source attribution.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2"/>
          <p:cNvSpPr/>
          <p:nvPr/>
        </p:nvSpPr>
        <p:spPr>
          <a:xfrm>
            <a:off x="960120" y="20116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2"/>
          <p:cNvSpPr/>
          <p:nvPr/>
        </p:nvSpPr>
        <p:spPr>
          <a:xfrm>
            <a:off x="457200" y="20848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22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2"/>
          <p:cNvSpPr/>
          <p:nvPr/>
        </p:nvSpPr>
        <p:spPr>
          <a:xfrm>
            <a:off x="1097280" y="20482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Auto-Response (5m)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2"/>
          <p:cNvSpPr/>
          <p:nvPr/>
        </p:nvSpPr>
        <p:spPr>
          <a:xfrm>
            <a:off x="1097280" y="22860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 or human. Email + prospectus. Score 0-100.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2"/>
          <p:cNvSpPr/>
          <p:nvPr/>
        </p:nvSpPr>
        <p:spPr>
          <a:xfrm>
            <a:off x="960120" y="29260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2"/>
          <p:cNvSpPr/>
          <p:nvPr/>
        </p:nvSpPr>
        <p:spPr>
          <a:xfrm>
            <a:off x="457200" y="29992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2"/>
          <p:cNvSpPr/>
          <p:nvPr/>
        </p:nvSpPr>
        <p:spPr>
          <a:xfrm>
            <a:off x="457200" y="29992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2"/>
          <p:cNvSpPr/>
          <p:nvPr/>
        </p:nvSpPr>
        <p:spPr>
          <a:xfrm>
            <a:off x="1097280" y="29626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Officer Assign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2"/>
          <p:cNvSpPr/>
          <p:nvPr/>
        </p:nvSpPr>
        <p:spPr>
          <a:xfrm>
            <a:off x="1097280" y="32004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By year group. 24h follow-up.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2"/>
          <p:cNvSpPr/>
          <p:nvPr/>
        </p:nvSpPr>
        <p:spPr>
          <a:xfrm>
            <a:off x="960120" y="38404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2"/>
          <p:cNvSpPr/>
          <p:nvPr/>
        </p:nvSpPr>
        <p:spPr>
          <a:xfrm>
            <a:off x="457200" y="39136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2"/>
          <p:cNvSpPr/>
          <p:nvPr/>
        </p:nvSpPr>
        <p:spPr>
          <a:xfrm>
            <a:off x="457200" y="39136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2"/>
          <p:cNvSpPr/>
          <p:nvPr/>
        </p:nvSpPr>
        <p:spPr>
          <a:xfrm>
            <a:off x="1097280" y="38770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Qualify &amp; Nurture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2"/>
          <p:cNvSpPr/>
          <p:nvPr/>
        </p:nvSpPr>
        <p:spPr>
          <a:xfrm>
            <a:off x="1097280" y="41148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AI/human. Fast-track or monthly nurture.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2"/>
          <p:cNvSpPr/>
          <p:nvPr/>
        </p:nvSpPr>
        <p:spPr>
          <a:xfrm>
            <a:off x="5349240" y="10972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2"/>
          <p:cNvSpPr/>
          <p:nvPr/>
        </p:nvSpPr>
        <p:spPr>
          <a:xfrm>
            <a:off x="4846320" y="11704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2"/>
          <p:cNvSpPr/>
          <p:nvPr/>
        </p:nvSpPr>
        <p:spPr>
          <a:xfrm>
            <a:off x="4846320" y="11704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2"/>
          <p:cNvSpPr/>
          <p:nvPr/>
        </p:nvSpPr>
        <p:spPr>
          <a:xfrm>
            <a:off x="5486400" y="11338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Visit Scheduling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2"/>
          <p:cNvSpPr/>
          <p:nvPr/>
        </p:nvSpPr>
        <p:spPr>
          <a:xfrm>
            <a:off x="5486400" y="13716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Personalized tour. Feedback 2h.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2"/>
          <p:cNvSpPr/>
          <p:nvPr/>
        </p:nvSpPr>
        <p:spPr>
          <a:xfrm>
            <a:off x="5349240" y="20116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2"/>
          <p:cNvSpPr/>
          <p:nvPr/>
        </p:nvSpPr>
        <p:spPr>
          <a:xfrm>
            <a:off x="4846320" y="20848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2"/>
          <p:cNvSpPr/>
          <p:nvPr/>
        </p:nvSpPr>
        <p:spPr>
          <a:xfrm>
            <a:off x="4846320" y="20848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2"/>
          <p:cNvSpPr/>
          <p:nvPr/>
        </p:nvSpPr>
        <p:spPr>
          <a:xfrm>
            <a:off x="5486400" y="20482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Post-Visit Convert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2"/>
          <p:cNvSpPr/>
          <p:nvPr/>
        </p:nvSpPr>
        <p:spPr>
          <a:xfrm>
            <a:off x="5486400" y="22860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48h follow-up. Hot lead flags.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2"/>
          <p:cNvSpPr/>
          <p:nvPr/>
        </p:nvSpPr>
        <p:spPr>
          <a:xfrm>
            <a:off x="5349240" y="29260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2"/>
          <p:cNvSpPr/>
          <p:nvPr/>
        </p:nvSpPr>
        <p:spPr>
          <a:xfrm>
            <a:off x="4846320" y="29992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2"/>
          <p:cNvSpPr/>
          <p:nvPr/>
        </p:nvSpPr>
        <p:spPr>
          <a:xfrm>
            <a:off x="4846320" y="29992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2"/>
          <p:cNvSpPr/>
          <p:nvPr/>
        </p:nvSpPr>
        <p:spPr>
          <a:xfrm>
            <a:off x="5486400" y="29626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App to Enrolled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22"/>
          <p:cNvSpPr/>
          <p:nvPr/>
        </p:nvSpPr>
        <p:spPr>
          <a:xfrm>
            <a:off x="5486400" y="32004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Acceptance triggers welcome.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2"/>
          <p:cNvSpPr/>
          <p:nvPr/>
        </p:nvSpPr>
        <p:spPr>
          <a:xfrm>
            <a:off x="5349240" y="3840480"/>
            <a:ext cx="365760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2"/>
          <p:cNvSpPr/>
          <p:nvPr/>
        </p:nvSpPr>
        <p:spPr>
          <a:xfrm>
            <a:off x="4846320" y="3913632"/>
            <a:ext cx="411480" cy="411480"/>
          </a:xfrm>
          <a:prstGeom prst="roundRect">
            <a:avLst>
              <a:gd fmla="val 48889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22"/>
          <p:cNvSpPr/>
          <p:nvPr/>
        </p:nvSpPr>
        <p:spPr>
          <a:xfrm>
            <a:off x="4846320" y="39136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2"/>
          <p:cNvSpPr/>
          <p:nvPr/>
        </p:nvSpPr>
        <p:spPr>
          <a:xfrm>
            <a:off x="5486400" y="3877056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Report &amp; Optimize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2"/>
          <p:cNvSpPr/>
          <p:nvPr/>
        </p:nvSpPr>
        <p:spPr>
          <a:xfrm>
            <a:off x="5486400" y="41148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Weekly pipeline. Quarterly CP</a:t>
            </a:r>
            <a:r>
              <a:rPr lang="en-US" sz="900">
                <a:solidFill>
                  <a:srgbClr val="6B7280"/>
                </a:solidFill>
              </a:rPr>
              <a:t>E (cost per enrollment)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d6e84ba5c3_0_226"/>
          <p:cNvSpPr/>
          <p:nvPr/>
        </p:nvSpPr>
        <p:spPr>
          <a:xfrm>
            <a:off x="640080" y="274320"/>
            <a:ext cx="786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I Assess Current Performance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g3d6e84ba5c3_0_226"/>
          <p:cNvSpPr/>
          <p:nvPr/>
        </p:nvSpPr>
        <p:spPr>
          <a:xfrm>
            <a:off x="640080" y="77724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Systematic audit framework for Days 1-30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3d6e84ba5c3_0_226"/>
          <p:cNvSpPr/>
          <p:nvPr/>
        </p:nvSpPr>
        <p:spPr>
          <a:xfrm>
            <a:off x="457200" y="1097280"/>
            <a:ext cx="3931800" cy="1051500"/>
          </a:xfrm>
          <a:prstGeom prst="roundRect">
            <a:avLst>
              <a:gd fmla="val 869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d6e84ba5c3_0_226"/>
          <p:cNvSpPr/>
          <p:nvPr/>
        </p:nvSpPr>
        <p:spPr>
          <a:xfrm>
            <a:off x="457200" y="1097280"/>
            <a:ext cx="73200" cy="10515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g3d6e84ba5c3_0_226"/>
          <p:cNvSpPr/>
          <p:nvPr/>
        </p:nvSpPr>
        <p:spPr>
          <a:xfrm>
            <a:off x="640080" y="1152144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Marketing Channels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g3d6e84ba5c3_0_226"/>
          <p:cNvSpPr/>
          <p:nvPr/>
        </p:nvSpPr>
        <p:spPr>
          <a:xfrm>
            <a:off x="640080" y="141732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Map all active channels (paid, organic, events, referral). Assess spend vs results per channel. Identify what's working, what's not, what's missing entirely.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g3d6e84ba5c3_0_226"/>
          <p:cNvSpPr/>
          <p:nvPr/>
        </p:nvSpPr>
        <p:spPr>
          <a:xfrm>
            <a:off x="4754880" y="1097280"/>
            <a:ext cx="3931800" cy="1051500"/>
          </a:xfrm>
          <a:prstGeom prst="roundRect">
            <a:avLst>
              <a:gd fmla="val 869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g3d6e84ba5c3_0_226"/>
          <p:cNvSpPr/>
          <p:nvPr/>
        </p:nvSpPr>
        <p:spPr>
          <a:xfrm>
            <a:off x="4754880" y="1097280"/>
            <a:ext cx="73200" cy="105150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g3d6e84ba5c3_0_226"/>
          <p:cNvSpPr/>
          <p:nvPr/>
        </p:nvSpPr>
        <p:spPr>
          <a:xfrm>
            <a:off x="4937760" y="1152144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Website + Digital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g3d6e84ba5c3_0_226"/>
          <p:cNvSpPr/>
          <p:nvPr/>
        </p:nvSpPr>
        <p:spPr>
          <a:xfrm>
            <a:off x="4937760" y="141732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Full site crawl (Screaming Frog). GA4 data review: traffic sources, bounce rate, conversion paths. Hotjar heatmaps on key pages. Mobile UX test.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g3d6e84ba5c3_0_226"/>
          <p:cNvSpPr/>
          <p:nvPr/>
        </p:nvSpPr>
        <p:spPr>
          <a:xfrm>
            <a:off x="457200" y="2331720"/>
            <a:ext cx="3931800" cy="1051500"/>
          </a:xfrm>
          <a:prstGeom prst="roundRect">
            <a:avLst>
              <a:gd fmla="val 869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g3d6e84ba5c3_0_226"/>
          <p:cNvSpPr/>
          <p:nvPr/>
        </p:nvSpPr>
        <p:spPr>
          <a:xfrm>
            <a:off x="457200" y="2331720"/>
            <a:ext cx="73200" cy="105150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d6e84ba5c3_0_226"/>
          <p:cNvSpPr/>
          <p:nvPr/>
        </p:nvSpPr>
        <p:spPr>
          <a:xfrm>
            <a:off x="640080" y="2386584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CRM + Funnel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3d6e84ba5c3_0_226"/>
          <p:cNvSpPr/>
          <p:nvPr/>
        </p:nvSpPr>
        <p:spPr>
          <a:xfrm>
            <a:off x="640080" y="265176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Map current inquiry-to-enrollment pipeline. Identify where leads drop off. Measure response times. Assess lead source attribution accuracy.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g3d6e84ba5c3_0_226"/>
          <p:cNvSpPr/>
          <p:nvPr/>
        </p:nvSpPr>
        <p:spPr>
          <a:xfrm>
            <a:off x="4754880" y="2331720"/>
            <a:ext cx="3931800" cy="1051500"/>
          </a:xfrm>
          <a:prstGeom prst="roundRect">
            <a:avLst>
              <a:gd fmla="val 869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g3d6e84ba5c3_0_226"/>
          <p:cNvSpPr/>
          <p:nvPr/>
        </p:nvSpPr>
        <p:spPr>
          <a:xfrm>
            <a:off x="4754880" y="2331720"/>
            <a:ext cx="73200" cy="1051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g3d6e84ba5c3_0_226"/>
          <p:cNvSpPr/>
          <p:nvPr/>
        </p:nvSpPr>
        <p:spPr>
          <a:xfrm>
            <a:off x="4937760" y="2386584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Competitive Benchmarking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d6e84ba5c3_0_226"/>
          <p:cNvSpPr/>
          <p:nvPr/>
        </p:nvSpPr>
        <p:spPr>
          <a:xfrm>
            <a:off x="4937760" y="265176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Audit competitor ad libraries (Meta, Google). Compare social presence, content frequency, engagement. Review competitor websites and conversion flows.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d6e84ba5c3_0_226"/>
          <p:cNvSpPr/>
          <p:nvPr/>
        </p:nvSpPr>
        <p:spPr>
          <a:xfrm>
            <a:off x="457200" y="3566160"/>
            <a:ext cx="3931800" cy="1051500"/>
          </a:xfrm>
          <a:prstGeom prst="roundRect">
            <a:avLst>
              <a:gd fmla="val 869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g3d6e84ba5c3_0_226"/>
          <p:cNvSpPr/>
          <p:nvPr/>
        </p:nvSpPr>
        <p:spPr>
          <a:xfrm>
            <a:off x="457200" y="3566160"/>
            <a:ext cx="73200" cy="10515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g3d6e84ba5c3_0_226"/>
          <p:cNvSpPr/>
          <p:nvPr/>
        </p:nvSpPr>
        <p:spPr>
          <a:xfrm>
            <a:off x="640080" y="3621024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Stakeholder Interviews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g3d6e84ba5c3_0_226"/>
          <p:cNvSpPr/>
          <p:nvPr/>
        </p:nvSpPr>
        <p:spPr>
          <a:xfrm>
            <a:off x="640080" y="388620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1:1 with admissions (what do parents ask?), teachers (what do parents value?), current parents (why did you choose us?), leadership (what are the real goals?).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g3d6e84ba5c3_0_226"/>
          <p:cNvSpPr/>
          <p:nvPr/>
        </p:nvSpPr>
        <p:spPr>
          <a:xfrm>
            <a:off x="4754880" y="3566160"/>
            <a:ext cx="3931800" cy="1051500"/>
          </a:xfrm>
          <a:prstGeom prst="roundRect">
            <a:avLst>
              <a:gd fmla="val 8696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g3d6e84ba5c3_0_226"/>
          <p:cNvSpPr/>
          <p:nvPr/>
        </p:nvSpPr>
        <p:spPr>
          <a:xfrm>
            <a:off x="4754880" y="3566160"/>
            <a:ext cx="73200" cy="1051500"/>
          </a:xfrm>
          <a:prstGeom prst="roundRect">
            <a:avLst>
              <a:gd fmla="val 500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g3d6e84ba5c3_0_226"/>
          <p:cNvSpPr/>
          <p:nvPr/>
        </p:nvSpPr>
        <p:spPr>
          <a:xfrm>
            <a:off x="4937760" y="3621024"/>
            <a:ext cx="35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Brand + Content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g3d6e84ba5c3_0_226"/>
          <p:cNvSpPr/>
          <p:nvPr/>
        </p:nvSpPr>
        <p:spPr>
          <a:xfrm>
            <a:off x="4937760" y="388620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Review all marketing materials. Assess messaging consistency. Evaluate visual brand quality. Gap analysis vs brand architecture targets.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3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3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3"/>
          <p:cNvSpPr/>
          <p:nvPr/>
        </p:nvSpPr>
        <p:spPr>
          <a:xfrm>
            <a:off x="731520" y="4572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3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Retention &amp; Loyalty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3"/>
          <p:cNvSpPr/>
          <p:nvPr/>
        </p:nvSpPr>
        <p:spPr>
          <a:xfrm>
            <a:off x="731520" y="329184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3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Retention is the highest-margin growth lever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24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Retention &amp; Loyalty Programs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4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4"/>
          <p:cNvSpPr/>
          <p:nvPr/>
        </p:nvSpPr>
        <p:spPr>
          <a:xfrm>
            <a:off x="457200" y="914400"/>
            <a:ext cx="73152" cy="82296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4"/>
          <p:cNvSpPr/>
          <p:nvPr/>
        </p:nvSpPr>
        <p:spPr>
          <a:xfrm>
            <a:off x="731520" y="9875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 NPS &amp; Satisfaction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4"/>
          <p:cNvSpPr/>
          <p:nvPr/>
        </p:nvSpPr>
        <p:spPr>
          <a:xfrm>
            <a:off x="731520" y="129844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Quarterly NPS. CRM trends. Detractors flagged 48h. Promoters become ambassadors.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4"/>
          <p:cNvSpPr/>
          <p:nvPr/>
        </p:nvSpPr>
        <p:spPr>
          <a:xfrm>
            <a:off x="457200" y="1901952"/>
            <a:ext cx="8229600" cy="82296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24"/>
          <p:cNvSpPr/>
          <p:nvPr/>
        </p:nvSpPr>
        <p:spPr>
          <a:xfrm>
            <a:off x="457200" y="1901952"/>
            <a:ext cx="73152" cy="822960"/>
          </a:xfrm>
          <a:prstGeom prst="roundRect">
            <a:avLst>
              <a:gd fmla="val 50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4"/>
          <p:cNvSpPr/>
          <p:nvPr/>
        </p:nvSpPr>
        <p:spPr>
          <a:xfrm>
            <a:off x="731520" y="197510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Ambassador &amp; Referral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4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15-20 ambassadors/school. Open Day presence. Fee credit. Social content.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4"/>
          <p:cNvSpPr/>
          <p:nvPr/>
        </p:nvSpPr>
        <p:spPr>
          <a:xfrm>
            <a:off x="457200" y="2889504"/>
            <a:ext cx="8229600" cy="82296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4"/>
          <p:cNvSpPr/>
          <p:nvPr/>
        </p:nvSpPr>
        <p:spPr>
          <a:xfrm>
            <a:off x="457200" y="2889504"/>
            <a:ext cx="73152" cy="82296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24"/>
          <p:cNvSpPr/>
          <p:nvPr/>
        </p:nvSpPr>
        <p:spPr>
          <a:xfrm>
            <a:off x="731520" y="2962656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Re-enrollment &amp; At-Risk CRM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4"/>
          <p:cNvSpPr/>
          <p:nvPr/>
        </p:nvSpPr>
        <p:spPr>
          <a:xfrm>
            <a:off x="731520" y="3273552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Flags: missed meetings, fee delays. January early-bird. Exit interviews.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4"/>
          <p:cNvSpPr/>
          <p:nvPr/>
        </p:nvSpPr>
        <p:spPr>
          <a:xfrm>
            <a:off x="457200" y="3877056"/>
            <a:ext cx="8229600" cy="822960"/>
          </a:xfrm>
          <a:prstGeom prst="roundRect">
            <a:avLst>
              <a:gd fmla="val 11111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4"/>
          <p:cNvSpPr/>
          <p:nvPr/>
        </p:nvSpPr>
        <p:spPr>
          <a:xfrm>
            <a:off x="457200" y="3877056"/>
            <a:ext cx="73152" cy="82296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4"/>
          <p:cNvSpPr/>
          <p:nvPr/>
        </p:nvSpPr>
        <p:spPr>
          <a:xfrm>
            <a:off x="731520" y="395020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Alumni &amp; Reputation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4"/>
          <p:cNvSpPr/>
          <p:nvPr/>
        </p:nvSpPr>
        <p:spPr>
          <a:xfrm>
            <a:off x="731520" y="42611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'Where Are They Now' videos. Google Reviews 24h response. University PR.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25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5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25"/>
          <p:cNvSpPr/>
          <p:nvPr/>
        </p:nvSpPr>
        <p:spPr>
          <a:xfrm>
            <a:off x="731520" y="4572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5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First 90 Days Plan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5"/>
          <p:cNvSpPr/>
          <p:nvPr/>
        </p:nvSpPr>
        <p:spPr>
          <a:xfrm>
            <a:off x="731520" y="329184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5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Clarity, data, and quick wins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26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90-Day Priorities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6"/>
          <p:cNvSpPr/>
          <p:nvPr/>
        </p:nvSpPr>
        <p:spPr>
          <a:xfrm>
            <a:off x="320040" y="868680"/>
            <a:ext cx="2743200" cy="548640"/>
          </a:xfrm>
          <a:prstGeom prst="roundRect">
            <a:avLst>
              <a:gd fmla="val 16667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6"/>
          <p:cNvSpPr/>
          <p:nvPr/>
        </p:nvSpPr>
        <p:spPr>
          <a:xfrm>
            <a:off x="320040" y="868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Days 1-30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6"/>
          <p:cNvSpPr/>
          <p:nvPr/>
        </p:nvSpPr>
        <p:spPr>
          <a:xfrm>
            <a:off x="320040" y="10972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Listen &amp; Audit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6"/>
          <p:cNvSpPr/>
          <p:nvPr/>
        </p:nvSpPr>
        <p:spPr>
          <a:xfrm>
            <a:off x="320040" y="1508760"/>
            <a:ext cx="2743200" cy="32461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8" name="Google Shape;101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16459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26"/>
          <p:cNvSpPr/>
          <p:nvPr/>
        </p:nvSpPr>
        <p:spPr>
          <a:xfrm>
            <a:off x="713125" y="151790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Marketing audit (both)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0" name="Google Shape;10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21488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26"/>
          <p:cNvSpPr/>
          <p:nvPr/>
        </p:nvSpPr>
        <p:spPr>
          <a:xfrm>
            <a:off x="713250" y="206197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Interview stakeholders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2" name="Google Shape;10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26517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26"/>
          <p:cNvSpPr/>
          <p:nvPr/>
        </p:nvSpPr>
        <p:spPr>
          <a:xfrm>
            <a:off x="713125" y="2514603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 funnels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4" name="Google Shape;10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31546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26"/>
          <p:cNvSpPr/>
          <p:nvPr/>
        </p:nvSpPr>
        <p:spPr>
          <a:xfrm>
            <a:off x="713250" y="3017523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GA4 + CRM baseline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6" name="Google Shape;10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3657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26"/>
          <p:cNvSpPr/>
          <p:nvPr/>
        </p:nvSpPr>
        <p:spPr>
          <a:xfrm>
            <a:off x="713250" y="3566168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Competitive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8" name="Google Shape;10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26"/>
          <p:cNvSpPr/>
          <p:nvPr/>
        </p:nvSpPr>
        <p:spPr>
          <a:xfrm>
            <a:off x="713125" y="3973075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 quick-win campaigns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6"/>
          <p:cNvSpPr/>
          <p:nvPr/>
        </p:nvSpPr>
        <p:spPr>
          <a:xfrm>
            <a:off x="3246120" y="868680"/>
            <a:ext cx="2743200" cy="54864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6"/>
          <p:cNvSpPr/>
          <p:nvPr/>
        </p:nvSpPr>
        <p:spPr>
          <a:xfrm>
            <a:off x="3246120" y="868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Days 31-60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6"/>
          <p:cNvSpPr/>
          <p:nvPr/>
        </p:nvSpPr>
        <p:spPr>
          <a:xfrm>
            <a:off x="3246120" y="10972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&amp; Launch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26"/>
          <p:cNvSpPr/>
          <p:nvPr/>
        </p:nvSpPr>
        <p:spPr>
          <a:xfrm>
            <a:off x="3246120" y="1508760"/>
            <a:ext cx="2743200" cy="32461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4" name="Google Shape;10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16459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26"/>
          <p:cNvSpPr/>
          <p:nvPr/>
        </p:nvSpPr>
        <p:spPr>
          <a:xfrm>
            <a:off x="3625543" y="1531613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Google Ads + Meta 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6" name="Google Shape;10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21488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26"/>
          <p:cNvSpPr/>
          <p:nvPr/>
        </p:nvSpPr>
        <p:spPr>
          <a:xfrm>
            <a:off x="3680405" y="202082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CRM lead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8" name="Google Shape;10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26517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26"/>
          <p:cNvSpPr/>
          <p:nvPr/>
        </p:nvSpPr>
        <p:spPr>
          <a:xfrm>
            <a:off x="3680468" y="252374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 calendar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0" name="Google Shape;10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31546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26"/>
          <p:cNvSpPr/>
          <p:nvPr/>
        </p:nvSpPr>
        <p:spPr>
          <a:xfrm>
            <a:off x="3680468" y="3026685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First Open 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2" name="Google Shape;10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3657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26"/>
          <p:cNvSpPr/>
          <p:nvPr/>
        </p:nvSpPr>
        <p:spPr>
          <a:xfrm>
            <a:off x="3552393" y="351588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Website optimization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4" name="Google Shape;10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5848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26"/>
          <p:cNvSpPr/>
          <p:nvPr/>
        </p:nvSpPr>
        <p:spPr>
          <a:xfrm>
            <a:off x="3552455" y="4032525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 survey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6"/>
          <p:cNvSpPr/>
          <p:nvPr/>
        </p:nvSpPr>
        <p:spPr>
          <a:xfrm>
            <a:off x="6172200" y="868680"/>
            <a:ext cx="2743200" cy="548640"/>
          </a:xfrm>
          <a:prstGeom prst="roundRect">
            <a:avLst>
              <a:gd fmla="val 16667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6"/>
          <p:cNvSpPr/>
          <p:nvPr/>
        </p:nvSpPr>
        <p:spPr>
          <a:xfrm>
            <a:off x="6172200" y="868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Days 61-90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6"/>
          <p:cNvSpPr/>
          <p:nvPr/>
        </p:nvSpPr>
        <p:spPr>
          <a:xfrm>
            <a:off x="6172200" y="10972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 &amp; Present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6"/>
          <p:cNvSpPr/>
          <p:nvPr/>
        </p:nvSpPr>
        <p:spPr>
          <a:xfrm>
            <a:off x="6172200" y="1508760"/>
            <a:ext cx="2743200" cy="32461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0" name="Google Shape;10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8" y="16459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26"/>
          <p:cNvSpPr/>
          <p:nvPr/>
        </p:nvSpPr>
        <p:spPr>
          <a:xfrm>
            <a:off x="6537985" y="1517913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Review data, reallocate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2" name="Google Shape;10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8" y="21488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26"/>
          <p:cNvSpPr/>
          <p:nvPr/>
        </p:nvSpPr>
        <p:spPr>
          <a:xfrm>
            <a:off x="6537960" y="202082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12-month strategy to Directors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4" name="Google Shape;10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8" y="26517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26"/>
          <p:cNvSpPr/>
          <p:nvPr/>
        </p:nvSpPr>
        <p:spPr>
          <a:xfrm>
            <a:off x="6538110" y="2523740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Referral + ambassador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6" name="Google Shape;10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8" y="31546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26"/>
          <p:cNvSpPr/>
          <p:nvPr/>
        </p:nvSpPr>
        <p:spPr>
          <a:xfrm>
            <a:off x="6538110" y="3017523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Monthly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8" name="Google Shape;10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8" y="365760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26"/>
          <p:cNvSpPr/>
          <p:nvPr/>
        </p:nvSpPr>
        <p:spPr>
          <a:xfrm>
            <a:off x="6537960" y="3511305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 partnerships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0" name="Google Shape;10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1928" y="41605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26"/>
          <p:cNvSpPr/>
          <p:nvPr/>
        </p:nvSpPr>
        <p:spPr>
          <a:xfrm>
            <a:off x="6538010" y="4005075"/>
            <a:ext cx="224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Year 1 KPIs with leadership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d6e84ba5c3_0_271"/>
          <p:cNvSpPr/>
          <p:nvPr/>
        </p:nvSpPr>
        <p:spPr>
          <a:xfrm>
            <a:off x="640080" y="228600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 Quick-Win Campaigns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g3d6e84ba5c3_0_271"/>
          <p:cNvSpPr/>
          <p:nvPr/>
        </p:nvSpPr>
        <p:spPr>
          <a:xfrm>
            <a:off x="640080" y="68580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Connected funnel: each campaign feeds the next launched in Days 1-30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g3d6e84ba5c3_0_271"/>
          <p:cNvSpPr/>
          <p:nvPr/>
        </p:nvSpPr>
        <p:spPr>
          <a:xfrm>
            <a:off x="320040" y="1097280"/>
            <a:ext cx="2560200" cy="34746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g3d6e84ba5c3_0_271"/>
          <p:cNvSpPr/>
          <p:nvPr/>
        </p:nvSpPr>
        <p:spPr>
          <a:xfrm>
            <a:off x="320040" y="1097280"/>
            <a:ext cx="2560200" cy="594300"/>
          </a:xfrm>
          <a:prstGeom prst="roundRect">
            <a:avLst>
              <a:gd fmla="val 18462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g3d6e84ba5c3_0_271"/>
          <p:cNvSpPr/>
          <p:nvPr/>
        </p:nvSpPr>
        <p:spPr>
          <a:xfrm>
            <a:off x="320040" y="1463040"/>
            <a:ext cx="2560200" cy="228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d6e84ba5c3_0_271"/>
          <p:cNvSpPr/>
          <p:nvPr/>
        </p:nvSpPr>
        <p:spPr>
          <a:xfrm>
            <a:off x="429768" y="1188720"/>
            <a:ext cx="365700" cy="3657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g3d6e84ba5c3_0_271"/>
          <p:cNvSpPr/>
          <p:nvPr/>
        </p:nvSpPr>
        <p:spPr>
          <a:xfrm>
            <a:off x="429768" y="118872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g3d6e84ba5c3_0_271"/>
          <p:cNvSpPr/>
          <p:nvPr/>
        </p:nvSpPr>
        <p:spPr>
          <a:xfrm>
            <a:off x="914400" y="1170432"/>
            <a:ext cx="411600" cy="411600"/>
          </a:xfrm>
          <a:prstGeom prst="roundRect">
            <a:avLst>
              <a:gd fmla="val 25000" name="adj"/>
            </a:avLst>
          </a:prstGeom>
          <a:solidFill>
            <a:srgbClr val="3730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5" name="Google Shape;1075;g3d6e84ba5c3_0_2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125272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g3d6e84ba5c3_0_271"/>
          <p:cNvSpPr/>
          <p:nvPr/>
        </p:nvSpPr>
        <p:spPr>
          <a:xfrm>
            <a:off x="1417320" y="11612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Awareness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Engagement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7" name="Google Shape;1077;g3d6e84ba5c3_0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84708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g3d6e84ba5c3_0_271"/>
          <p:cNvSpPr/>
          <p:nvPr/>
        </p:nvSpPr>
        <p:spPr>
          <a:xfrm>
            <a:off x="685712" y="1725968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Meta video ads: 60-sec campus highlight reel targeting parents in Tbilisi (age 28-50)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9" name="Google Shape;1079;g3d6e84ba5c3_0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3317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g3d6e84ba5c3_0_271"/>
          <p:cNvSpPr/>
          <p:nvPr/>
        </p:nvSpPr>
        <p:spPr>
          <a:xfrm>
            <a:off x="685712" y="2199200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Objective: Video Views + Engagement to build warm audience pool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1" name="Google Shape;1081;g3d6e84ba5c3_0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81635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g3d6e84ba5c3_0_271"/>
          <p:cNvSpPr/>
          <p:nvPr/>
        </p:nvSpPr>
        <p:spPr>
          <a:xfrm>
            <a:off x="685712" y="2656345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Budget: $500-800 for first 2 weeks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3" name="Google Shape;1083;g3d6e84ba5c3_0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30098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g3d6e84ba5c3_0_271"/>
          <p:cNvSpPr/>
          <p:nvPr/>
        </p:nvSpPr>
        <p:spPr>
          <a:xfrm>
            <a:off x="685712" y="3176389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Content: drone campus footage, student smiles, facilities, Lisi Lake setting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5" name="Google Shape;1085;g3d6e84ba5c3_0_2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78561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g3d6e84ba5c3_0_271"/>
          <p:cNvSpPr/>
          <p:nvPr/>
        </p:nvSpPr>
        <p:spPr>
          <a:xfrm>
            <a:off x="685712" y="3682759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Target: 50,000+ impressions, 15,000+ video views, build custom audience of viewers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g3d6e84ba5c3_0_271"/>
          <p:cNvSpPr/>
          <p:nvPr/>
        </p:nvSpPr>
        <p:spPr>
          <a:xfrm>
            <a:off x="411480" y="4251960"/>
            <a:ext cx="2377500" cy="228600"/>
          </a:xfrm>
          <a:prstGeom prst="roundRect">
            <a:avLst>
              <a:gd fmla="val 480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g3d6e84ba5c3_0_271"/>
          <p:cNvSpPr/>
          <p:nvPr/>
        </p:nvSpPr>
        <p:spPr>
          <a:xfrm>
            <a:off x="411480" y="4251960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Output: Custom audience of engaged viewers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9" name="Google Shape;1089;g3d6e84ba5c3_0_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2560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g3d6e84ba5c3_0_271"/>
          <p:cNvSpPr/>
          <p:nvPr/>
        </p:nvSpPr>
        <p:spPr>
          <a:xfrm>
            <a:off x="3291840" y="1097280"/>
            <a:ext cx="2560200" cy="34746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g3d6e84ba5c3_0_271"/>
          <p:cNvSpPr/>
          <p:nvPr/>
        </p:nvSpPr>
        <p:spPr>
          <a:xfrm>
            <a:off x="3291840" y="1097280"/>
            <a:ext cx="2560200" cy="594300"/>
          </a:xfrm>
          <a:prstGeom prst="roundRect">
            <a:avLst>
              <a:gd fmla="val 18462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g3d6e84ba5c3_0_271"/>
          <p:cNvSpPr/>
          <p:nvPr/>
        </p:nvSpPr>
        <p:spPr>
          <a:xfrm>
            <a:off x="3291840" y="1463040"/>
            <a:ext cx="25602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g3d6e84ba5c3_0_271"/>
          <p:cNvSpPr/>
          <p:nvPr/>
        </p:nvSpPr>
        <p:spPr>
          <a:xfrm>
            <a:off x="3401568" y="1188720"/>
            <a:ext cx="365700" cy="3657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g3d6e84ba5c3_0_271"/>
          <p:cNvSpPr/>
          <p:nvPr/>
        </p:nvSpPr>
        <p:spPr>
          <a:xfrm>
            <a:off x="3401568" y="118872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g3d6e84ba5c3_0_271"/>
          <p:cNvSpPr/>
          <p:nvPr/>
        </p:nvSpPr>
        <p:spPr>
          <a:xfrm>
            <a:off x="3886200" y="1170432"/>
            <a:ext cx="411600" cy="411600"/>
          </a:xfrm>
          <a:prstGeom prst="roundRect">
            <a:avLst>
              <a:gd fmla="val 25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6" name="Google Shape;1096;g3d6e84ba5c3_0_2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8496" y="125272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g3d6e84ba5c3_0_271"/>
          <p:cNvSpPr/>
          <p:nvPr/>
        </p:nvSpPr>
        <p:spPr>
          <a:xfrm>
            <a:off x="4389120" y="11612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Warm Up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Audience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8" name="Google Shape;1098;g3d6e84ba5c3_0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184708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g3d6e84ba5c3_0_271"/>
          <p:cNvSpPr/>
          <p:nvPr/>
        </p:nvSpPr>
        <p:spPr>
          <a:xfrm>
            <a:off x="3639312" y="1801368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Carousel / lead-gen ads served to Campaign 1 viewers (warm audience only)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0" name="Google Shape;1100;g3d6e84ba5c3_0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23317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g3d6e84ba5c3_0_271"/>
          <p:cNvSpPr/>
          <p:nvPr/>
        </p:nvSpPr>
        <p:spPr>
          <a:xfrm>
            <a:off x="3639312" y="2286000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Content: parent testimonials, 'Why we chose BIST/BGA', key differentiators, virtual tour preview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2" name="Google Shape;1102;g3d6e84ba5c3_0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281635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g3d6e84ba5c3_0_271"/>
          <p:cNvSpPr/>
          <p:nvPr/>
        </p:nvSpPr>
        <p:spPr>
          <a:xfrm>
            <a:off x="3639312" y="2770632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CTA: Download prospectus / Book Open Day / Take virtual tour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4" name="Google Shape;1104;g3d6e84ba5c3_0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330098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g3d6e84ba5c3_0_271"/>
          <p:cNvSpPr/>
          <p:nvPr/>
        </p:nvSpPr>
        <p:spPr>
          <a:xfrm>
            <a:off x="3611837" y="3145527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Builds email list + identifies high-intent leads via CRM tagging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6" name="Google Shape;1106;g3d6e84ba5c3_0_2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9000" y="378561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g3d6e84ba5c3_0_271"/>
          <p:cNvSpPr/>
          <p:nvPr/>
        </p:nvSpPr>
        <p:spPr>
          <a:xfrm>
            <a:off x="3639312" y="3739896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Target: 500+ prospectus downloads, 200+ Open Day sign-ups, lookalike audience created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g3d6e84ba5c3_0_271"/>
          <p:cNvSpPr/>
          <p:nvPr/>
        </p:nvSpPr>
        <p:spPr>
          <a:xfrm>
            <a:off x="3383280" y="4251960"/>
            <a:ext cx="2377500" cy="228600"/>
          </a:xfrm>
          <a:prstGeom prst="roundRect">
            <a:avLst>
              <a:gd fmla="val 480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g3d6e84ba5c3_0_271"/>
          <p:cNvSpPr/>
          <p:nvPr/>
        </p:nvSpPr>
        <p:spPr>
          <a:xfrm>
            <a:off x="3383280" y="4251960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Output: Email list + lookalike + high-intent segment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0" name="Google Shape;1110;g3d6e84ba5c3_0_2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2560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g3d6e84ba5c3_0_271"/>
          <p:cNvSpPr/>
          <p:nvPr/>
        </p:nvSpPr>
        <p:spPr>
          <a:xfrm>
            <a:off x="6263640" y="1097280"/>
            <a:ext cx="2560200" cy="34746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g3d6e84ba5c3_0_271"/>
          <p:cNvSpPr/>
          <p:nvPr/>
        </p:nvSpPr>
        <p:spPr>
          <a:xfrm>
            <a:off x="6263640" y="1097280"/>
            <a:ext cx="2560200" cy="594300"/>
          </a:xfrm>
          <a:prstGeom prst="roundRect">
            <a:avLst>
              <a:gd fmla="val 18462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g3d6e84ba5c3_0_271"/>
          <p:cNvSpPr/>
          <p:nvPr/>
        </p:nvSpPr>
        <p:spPr>
          <a:xfrm>
            <a:off x="6263640" y="1463040"/>
            <a:ext cx="2560200" cy="228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g3d6e84ba5c3_0_271"/>
          <p:cNvSpPr/>
          <p:nvPr/>
        </p:nvSpPr>
        <p:spPr>
          <a:xfrm>
            <a:off x="6373368" y="1188720"/>
            <a:ext cx="365700" cy="3657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g3d6e84ba5c3_0_271"/>
          <p:cNvSpPr/>
          <p:nvPr/>
        </p:nvSpPr>
        <p:spPr>
          <a:xfrm>
            <a:off x="6373368" y="1188720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g3d6e84ba5c3_0_271"/>
          <p:cNvSpPr/>
          <p:nvPr/>
        </p:nvSpPr>
        <p:spPr>
          <a:xfrm>
            <a:off x="6858000" y="1170432"/>
            <a:ext cx="411600" cy="411600"/>
          </a:xfrm>
          <a:prstGeom prst="roundRect">
            <a:avLst>
              <a:gd fmla="val 25000" name="adj"/>
            </a:avLst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7" name="Google Shape;1117;g3d6e84ba5c3_0_2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40296" y="125272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g3d6e84ba5c3_0_271"/>
          <p:cNvSpPr/>
          <p:nvPr/>
        </p:nvSpPr>
        <p:spPr>
          <a:xfrm>
            <a:off x="7360920" y="1161288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Retarget &amp;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9" name="Google Shape;1119;g3d6e84ba5c3_0_2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1847088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g3d6e84ba5c3_0_271"/>
          <p:cNvSpPr/>
          <p:nvPr/>
        </p:nvSpPr>
        <p:spPr>
          <a:xfrm>
            <a:off x="6611112" y="1801368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Retargeting ads to: prospectus downloaders who didn't inquire, site visitors, Open Day no-shows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1" name="Google Shape;1121;g3d6e84ba5c3_0_2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2331720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g3d6e84ba5c3_0_271"/>
          <p:cNvSpPr/>
          <p:nvPr/>
        </p:nvSpPr>
        <p:spPr>
          <a:xfrm>
            <a:off x="6611112" y="2286000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Content: urgency-driven — 'Limited spots for September', scholarship deadline, student success story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3" name="Google Shape;1123;g3d6e84ba5c3_0_2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2816352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g3d6e84ba5c3_0_271"/>
          <p:cNvSpPr/>
          <p:nvPr/>
        </p:nvSpPr>
        <p:spPr>
          <a:xfrm>
            <a:off x="6611112" y="2770632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Google Search ads running parallel: capture high-intent 'international school Tbilisi' searches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5" name="Google Shape;1125;g3d6e84ba5c3_0_2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3300984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g3d6e84ba5c3_0_271"/>
          <p:cNvSpPr/>
          <p:nvPr/>
        </p:nvSpPr>
        <p:spPr>
          <a:xfrm>
            <a:off x="6611112" y="3227839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Direct CTA: Submit inquiry / Schedule private tour / Call admissions now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7" name="Google Shape;1127;g3d6e84ba5c3_0_2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0" y="378561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g3d6e84ba5c3_0_271"/>
          <p:cNvSpPr/>
          <p:nvPr/>
        </p:nvSpPr>
        <p:spPr>
          <a:xfrm>
            <a:off x="6592912" y="3630171"/>
            <a:ext cx="2057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Target: 30+ qualified inquiries, 15+ school visits booked, first enrollments from paid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g3d6e84ba5c3_0_271"/>
          <p:cNvSpPr/>
          <p:nvPr/>
        </p:nvSpPr>
        <p:spPr>
          <a:xfrm>
            <a:off x="6355080" y="4251960"/>
            <a:ext cx="2377500" cy="228600"/>
          </a:xfrm>
          <a:prstGeom prst="roundRect">
            <a:avLst>
              <a:gd fmla="val 48000" name="adj"/>
            </a:avLst>
          </a:prstGeom>
          <a:solidFill>
            <a:srgbClr val="ECFE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d6e84ba5c3_0_271"/>
          <p:cNvSpPr/>
          <p:nvPr/>
        </p:nvSpPr>
        <p:spPr>
          <a:xfrm>
            <a:off x="6355080" y="4251960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Output: Qualified inquiries + school visits + enrollments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g3d6e84ba5c3_0_271"/>
          <p:cNvSpPr/>
          <p:nvPr/>
        </p:nvSpPr>
        <p:spPr>
          <a:xfrm>
            <a:off x="320040" y="4709160"/>
            <a:ext cx="8503800" cy="320100"/>
          </a:xfrm>
          <a:prstGeom prst="roundRect">
            <a:avLst>
              <a:gd fmla="val 48571" name="adj"/>
            </a:avLst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g3d6e84ba5c3_0_271"/>
          <p:cNvSpPr/>
          <p:nvPr/>
        </p:nvSpPr>
        <p:spPr>
          <a:xfrm>
            <a:off x="320040" y="4709160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Awareness (video views)  →  Warm audience (prospectus + email)  →  Retarget (inquiries + visits)  →  Enrolled students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27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Stakeholder Engagement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7"/>
          <p:cNvSpPr/>
          <p:nvPr/>
        </p:nvSpPr>
        <p:spPr>
          <a:xfrm>
            <a:off x="457200" y="914400"/>
            <a:ext cx="8229600" cy="804672"/>
          </a:xfrm>
          <a:prstGeom prst="roundRect">
            <a:avLst>
              <a:gd fmla="val 11364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27"/>
          <p:cNvSpPr/>
          <p:nvPr/>
        </p:nvSpPr>
        <p:spPr>
          <a:xfrm>
            <a:off x="594360" y="1078992"/>
            <a:ext cx="475488" cy="47548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1" name="Google Shape;11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458" y="117409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27"/>
          <p:cNvSpPr/>
          <p:nvPr/>
        </p:nvSpPr>
        <p:spPr>
          <a:xfrm>
            <a:off x="1188720" y="98755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Directors (BIST + BGA)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7"/>
          <p:cNvSpPr/>
          <p:nvPr/>
        </p:nvSpPr>
        <p:spPr>
          <a:xfrm>
            <a:off x="1188720" y="128016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Weekly alignment. Strategy by Day 60. Shared KPIs. Monthly board</a:t>
            </a:r>
            <a:r>
              <a:rPr lang="en-US" sz="1000">
                <a:solidFill>
                  <a:srgbClr val="6B7280"/>
                </a:solidFill>
              </a:rPr>
              <a:t> meetings.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7"/>
          <p:cNvSpPr/>
          <p:nvPr/>
        </p:nvSpPr>
        <p:spPr>
          <a:xfrm>
            <a:off x="457200" y="1901952"/>
            <a:ext cx="8229600" cy="804672"/>
          </a:xfrm>
          <a:prstGeom prst="roundRect">
            <a:avLst>
              <a:gd fmla="val 11364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27"/>
          <p:cNvSpPr/>
          <p:nvPr/>
        </p:nvSpPr>
        <p:spPr>
          <a:xfrm>
            <a:off x="594360" y="2066544"/>
            <a:ext cx="475488" cy="47548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6" name="Google Shape;114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458" y="21616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27"/>
          <p:cNvSpPr/>
          <p:nvPr/>
        </p:nvSpPr>
        <p:spPr>
          <a:xfrm>
            <a:off x="1188720" y="19751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Admissions Team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7"/>
          <p:cNvSpPr/>
          <p:nvPr/>
        </p:nvSpPr>
        <p:spPr>
          <a:xfrm>
            <a:off x="1188720" y="226771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Funnel mapping. CRM dashboards. Lead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7"/>
          <p:cNvSpPr/>
          <p:nvPr/>
        </p:nvSpPr>
        <p:spPr>
          <a:xfrm>
            <a:off x="457200" y="2889504"/>
            <a:ext cx="8229600" cy="804672"/>
          </a:xfrm>
          <a:prstGeom prst="roundRect">
            <a:avLst>
              <a:gd fmla="val 11364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7"/>
          <p:cNvSpPr/>
          <p:nvPr/>
        </p:nvSpPr>
        <p:spPr>
          <a:xfrm>
            <a:off x="594360" y="3054096"/>
            <a:ext cx="475488" cy="47548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1" name="Google Shape;115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458" y="31491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27"/>
          <p:cNvSpPr/>
          <p:nvPr/>
        </p:nvSpPr>
        <p:spPr>
          <a:xfrm>
            <a:off x="1188720" y="296265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Parents &amp; Students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7"/>
          <p:cNvSpPr/>
          <p:nvPr/>
        </p:nvSpPr>
        <p:spPr>
          <a:xfrm>
            <a:off x="1188720" y="3255264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Focus groups + NPS. Ambassador. Newsletter. WhatsApp.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7"/>
          <p:cNvSpPr/>
          <p:nvPr/>
        </p:nvSpPr>
        <p:spPr>
          <a:xfrm>
            <a:off x="457200" y="3877056"/>
            <a:ext cx="8229600" cy="804672"/>
          </a:xfrm>
          <a:prstGeom prst="roundRect">
            <a:avLst>
              <a:gd fmla="val 11364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7"/>
          <p:cNvSpPr/>
          <p:nvPr/>
        </p:nvSpPr>
        <p:spPr>
          <a:xfrm>
            <a:off x="594360" y="4041648"/>
            <a:ext cx="475488" cy="475488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6" name="Google Shape;115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458" y="4136746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27"/>
          <p:cNvSpPr/>
          <p:nvPr/>
        </p:nvSpPr>
        <p:spPr>
          <a:xfrm>
            <a:off x="1188720" y="39502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Teaching Staff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7"/>
          <p:cNvSpPr/>
          <p:nvPr/>
        </p:nvSpPr>
        <p:spPr>
          <a:xfrm>
            <a:off x="1188720" y="4242816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Spotlights. Classroom stories. Marketing = real experience.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28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8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8"/>
          <p:cNvSpPr/>
          <p:nvPr/>
        </p:nvSpPr>
        <p:spPr>
          <a:xfrm>
            <a:off x="731520" y="457200"/>
            <a:ext cx="2743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8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Structure &amp;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Responsibilities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8"/>
          <p:cNvSpPr/>
          <p:nvPr/>
        </p:nvSpPr>
        <p:spPr>
          <a:xfrm>
            <a:off x="731520" y="329184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8"/>
          <p:cNvSpPr/>
          <p:nvPr/>
        </p:nvSpPr>
        <p:spPr>
          <a:xfrm>
            <a:off x="731520" y="3566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The marketing engine powering both brands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29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In-house Marketing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9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Lean, high-output team with clear ownership for both BIST and BGA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9"/>
          <p:cNvSpPr/>
          <p:nvPr/>
        </p:nvSpPr>
        <p:spPr>
          <a:xfrm>
            <a:off x="274320" y="1097280"/>
            <a:ext cx="2103120" cy="36576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9"/>
          <p:cNvSpPr/>
          <p:nvPr/>
        </p:nvSpPr>
        <p:spPr>
          <a:xfrm>
            <a:off x="1005840" y="1280160"/>
            <a:ext cx="640080" cy="64008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9" name="Google Shape;11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856" y="14081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29"/>
          <p:cNvSpPr/>
          <p:nvPr/>
        </p:nvSpPr>
        <p:spPr>
          <a:xfrm>
            <a:off x="274320" y="20574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Sr. Account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9"/>
          <p:cNvSpPr/>
          <p:nvPr/>
        </p:nvSpPr>
        <p:spPr>
          <a:xfrm>
            <a:off x="411480" y="2468880"/>
            <a:ext cx="1828800" cy="9144"/>
          </a:xfrm>
          <a:prstGeom prst="roundRect">
            <a:avLst>
              <a:gd fmla="val 50000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29"/>
          <p:cNvSpPr/>
          <p:nvPr/>
        </p:nvSpPr>
        <p:spPr>
          <a:xfrm>
            <a:off x="411480" y="2542032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Campaign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School communication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Budget + reporting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Timeline + QA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NPS Control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CRM Control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Parents QA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9"/>
          <p:cNvSpPr/>
          <p:nvPr/>
        </p:nvSpPr>
        <p:spPr>
          <a:xfrm>
            <a:off x="411480" y="402336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9"/>
          <p:cNvSpPr/>
          <p:nvPr/>
        </p:nvSpPr>
        <p:spPr>
          <a:xfrm>
            <a:off x="411480" y="404164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OWNS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29"/>
          <p:cNvSpPr/>
          <p:nvPr/>
        </p:nvSpPr>
        <p:spPr>
          <a:xfrm>
            <a:off x="411480" y="42062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Strategy execution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Stakeholder alignment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9"/>
          <p:cNvSpPr/>
          <p:nvPr/>
        </p:nvSpPr>
        <p:spPr>
          <a:xfrm>
            <a:off x="2514600" y="1097280"/>
            <a:ext cx="2103120" cy="36576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9"/>
          <p:cNvSpPr/>
          <p:nvPr/>
        </p:nvSpPr>
        <p:spPr>
          <a:xfrm>
            <a:off x="3246120" y="1280160"/>
            <a:ext cx="640080" cy="640080"/>
          </a:xfrm>
          <a:prstGeom prst="roundRect">
            <a:avLst>
              <a:gd fmla="val 25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8" name="Google Shape;118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4136" y="14081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29"/>
          <p:cNvSpPr/>
          <p:nvPr/>
        </p:nvSpPr>
        <p:spPr>
          <a:xfrm>
            <a:off x="2514600" y="20574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Advertiser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29"/>
          <p:cNvSpPr/>
          <p:nvPr/>
        </p:nvSpPr>
        <p:spPr>
          <a:xfrm>
            <a:off x="2651760" y="2468880"/>
            <a:ext cx="1828800" cy="9144"/>
          </a:xfrm>
          <a:prstGeom prst="roundRect">
            <a:avLst>
              <a:gd fmla="val 50000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29"/>
          <p:cNvSpPr/>
          <p:nvPr/>
        </p:nvSpPr>
        <p:spPr>
          <a:xfrm>
            <a:off x="2651760" y="2542032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Google + Meta Ads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Retargeting + lookalike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Budget optimization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A/B testing + analytics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9"/>
          <p:cNvSpPr/>
          <p:nvPr/>
        </p:nvSpPr>
        <p:spPr>
          <a:xfrm>
            <a:off x="2651760" y="402336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9"/>
          <p:cNvSpPr/>
          <p:nvPr/>
        </p:nvSpPr>
        <p:spPr>
          <a:xfrm>
            <a:off x="2651760" y="404164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OWNS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9"/>
          <p:cNvSpPr/>
          <p:nvPr/>
        </p:nvSpPr>
        <p:spPr>
          <a:xfrm>
            <a:off x="2651760" y="42062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Paid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CPL &amp; ROAS targets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9"/>
          <p:cNvSpPr/>
          <p:nvPr/>
        </p:nvSpPr>
        <p:spPr>
          <a:xfrm>
            <a:off x="4754880" y="1097280"/>
            <a:ext cx="2103120" cy="36576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9"/>
          <p:cNvSpPr/>
          <p:nvPr/>
        </p:nvSpPr>
        <p:spPr>
          <a:xfrm>
            <a:off x="5486400" y="1280160"/>
            <a:ext cx="640080" cy="640080"/>
          </a:xfrm>
          <a:prstGeom prst="roundRect">
            <a:avLst>
              <a:gd fmla="val 25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7" name="Google Shape;119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4416" y="14081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29"/>
          <p:cNvSpPr/>
          <p:nvPr/>
        </p:nvSpPr>
        <p:spPr>
          <a:xfrm>
            <a:off x="4754880" y="20574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Designer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9"/>
          <p:cNvSpPr/>
          <p:nvPr/>
        </p:nvSpPr>
        <p:spPr>
          <a:xfrm>
            <a:off x="4892040" y="2468880"/>
            <a:ext cx="1828800" cy="9144"/>
          </a:xfrm>
          <a:prstGeom prst="roundRect">
            <a:avLst>
              <a:gd fmla="val 50000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29"/>
          <p:cNvSpPr/>
          <p:nvPr/>
        </p:nvSpPr>
        <p:spPr>
          <a:xfrm>
            <a:off x="4892040" y="2542032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 creatives + visuals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Social graphics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Brand identity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Video editing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9"/>
          <p:cNvSpPr/>
          <p:nvPr/>
        </p:nvSpPr>
        <p:spPr>
          <a:xfrm>
            <a:off x="4892040" y="402336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29"/>
          <p:cNvSpPr/>
          <p:nvPr/>
        </p:nvSpPr>
        <p:spPr>
          <a:xfrm>
            <a:off x="4892040" y="404164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OWNS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9"/>
          <p:cNvSpPr/>
          <p:nvPr/>
        </p:nvSpPr>
        <p:spPr>
          <a:xfrm>
            <a:off x="4892040" y="42062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Visual brand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Creative quality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9"/>
          <p:cNvSpPr/>
          <p:nvPr/>
        </p:nvSpPr>
        <p:spPr>
          <a:xfrm>
            <a:off x="6995160" y="1097280"/>
            <a:ext cx="2103120" cy="36576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9"/>
          <p:cNvSpPr/>
          <p:nvPr/>
        </p:nvSpPr>
        <p:spPr>
          <a:xfrm>
            <a:off x="7726680" y="1280160"/>
            <a:ext cx="640080" cy="640080"/>
          </a:xfrm>
          <a:prstGeom prst="roundRect">
            <a:avLst>
              <a:gd fmla="val 25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6" name="Google Shape;120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4696" y="140817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29"/>
          <p:cNvSpPr/>
          <p:nvPr/>
        </p:nvSpPr>
        <p:spPr>
          <a:xfrm>
            <a:off x="6995160" y="20574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Copywriter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9"/>
          <p:cNvSpPr/>
          <p:nvPr/>
        </p:nvSpPr>
        <p:spPr>
          <a:xfrm>
            <a:off x="7132320" y="2468880"/>
            <a:ext cx="1828800" cy="9144"/>
          </a:xfrm>
          <a:prstGeom prst="roundRect">
            <a:avLst>
              <a:gd fmla="val 50000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9"/>
          <p:cNvSpPr/>
          <p:nvPr/>
        </p:nvSpPr>
        <p:spPr>
          <a:xfrm>
            <a:off x="7132320" y="2542032"/>
            <a:ext cx="182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SEO+GEO blog content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Ad copy + landing pages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Email sequences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Bilingual content (EN+GE)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9"/>
          <p:cNvSpPr/>
          <p:nvPr/>
        </p:nvSpPr>
        <p:spPr>
          <a:xfrm>
            <a:off x="7132320" y="4023360"/>
            <a:ext cx="1828800" cy="594360"/>
          </a:xfrm>
          <a:prstGeom prst="roundRect">
            <a:avLst>
              <a:gd fmla="val 12308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9"/>
          <p:cNvSpPr/>
          <p:nvPr/>
        </p:nvSpPr>
        <p:spPr>
          <a:xfrm>
            <a:off x="7132320" y="4041648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OWNS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9"/>
          <p:cNvSpPr/>
          <p:nvPr/>
        </p:nvSpPr>
        <p:spPr>
          <a:xfrm>
            <a:off x="7132320" y="420624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63500" wrap="square" tIns="63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Content calendar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Brand voice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3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Potential Outsourced / Additional Team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0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Scaling capacity as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0"/>
          <p:cNvSpPr/>
          <p:nvPr/>
        </p:nvSpPr>
        <p:spPr>
          <a:xfrm>
            <a:off x="640075" y="1188725"/>
            <a:ext cx="2438400" cy="3200400"/>
          </a:xfrm>
          <a:prstGeom prst="roundRect">
            <a:avLst>
              <a:gd fmla="val 3750" name="adj"/>
            </a:avLst>
          </a:prstGeom>
          <a:solidFill>
            <a:srgbClr val="F3F4F6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30"/>
          <p:cNvSpPr/>
          <p:nvPr/>
        </p:nvSpPr>
        <p:spPr>
          <a:xfrm>
            <a:off x="1516378" y="1371605"/>
            <a:ext cx="609600" cy="73140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2" name="Google Shape;122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298" y="1517909"/>
            <a:ext cx="365761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30"/>
          <p:cNvSpPr/>
          <p:nvPr/>
        </p:nvSpPr>
        <p:spPr>
          <a:xfrm>
            <a:off x="640075" y="2286005"/>
            <a:ext cx="243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Jun/Mid Account Manager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0"/>
          <p:cNvSpPr/>
          <p:nvPr/>
        </p:nvSpPr>
        <p:spPr>
          <a:xfrm>
            <a:off x="868676" y="2697485"/>
            <a:ext cx="1981200" cy="9000"/>
          </a:xfrm>
          <a:prstGeom prst="roundRect">
            <a:avLst>
              <a:gd fmla="val 50000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30"/>
          <p:cNvSpPr/>
          <p:nvPr/>
        </p:nvSpPr>
        <p:spPr>
          <a:xfrm>
            <a:off x="868676" y="2788925"/>
            <a:ext cx="1981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Social media communication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Messenger/DM + comments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Partnerships (B2B, relocation agents)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Helping Sr. Account 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0"/>
          <p:cNvSpPr/>
          <p:nvPr/>
        </p:nvSpPr>
        <p:spPr>
          <a:xfrm>
            <a:off x="640076" y="3877285"/>
            <a:ext cx="1981200" cy="41160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0"/>
          <p:cNvSpPr/>
          <p:nvPr/>
        </p:nvSpPr>
        <p:spPr>
          <a:xfrm>
            <a:off x="736601" y="3840560"/>
            <a:ext cx="198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OWNS: Communication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46E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rPr>
              <a:t>Partnership support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0"/>
          <p:cNvSpPr/>
          <p:nvPr/>
        </p:nvSpPr>
        <p:spPr>
          <a:xfrm>
            <a:off x="3581400" y="1188725"/>
            <a:ext cx="2438400" cy="3200400"/>
          </a:xfrm>
          <a:prstGeom prst="roundRect">
            <a:avLst>
              <a:gd fmla="val 3750" name="adj"/>
            </a:avLst>
          </a:prstGeom>
          <a:solidFill>
            <a:srgbClr val="F3F4F6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0"/>
          <p:cNvSpPr/>
          <p:nvPr/>
        </p:nvSpPr>
        <p:spPr>
          <a:xfrm>
            <a:off x="4457700" y="1371605"/>
            <a:ext cx="609600" cy="731400"/>
          </a:xfrm>
          <a:prstGeom prst="roundRect">
            <a:avLst>
              <a:gd fmla="val 250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0" name="Google Shape;12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9620" y="1517909"/>
            <a:ext cx="365760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30"/>
          <p:cNvSpPr/>
          <p:nvPr/>
        </p:nvSpPr>
        <p:spPr>
          <a:xfrm>
            <a:off x="3581400" y="2286005"/>
            <a:ext cx="243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0"/>
          <p:cNvSpPr/>
          <p:nvPr/>
        </p:nvSpPr>
        <p:spPr>
          <a:xfrm>
            <a:off x="3810000" y="2697485"/>
            <a:ext cx="1981200" cy="9000"/>
          </a:xfrm>
          <a:prstGeom prst="roundRect">
            <a:avLst>
              <a:gd fmla="val 50000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0"/>
          <p:cNvSpPr/>
          <p:nvPr/>
        </p:nvSpPr>
        <p:spPr>
          <a:xfrm>
            <a:off x="3810000" y="2788925"/>
            <a:ext cx="1981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Website development + optimization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CRM integrations + automation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Landing page builds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Technical SEO implementation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0"/>
          <p:cNvSpPr/>
          <p:nvPr/>
        </p:nvSpPr>
        <p:spPr>
          <a:xfrm>
            <a:off x="3581400" y="3877285"/>
            <a:ext cx="1981200" cy="41160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0"/>
          <p:cNvSpPr/>
          <p:nvPr/>
        </p:nvSpPr>
        <p:spPr>
          <a:xfrm>
            <a:off x="3714750" y="3877285"/>
            <a:ext cx="198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OWNS: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Automations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0"/>
          <p:cNvSpPr/>
          <p:nvPr/>
        </p:nvSpPr>
        <p:spPr>
          <a:xfrm>
            <a:off x="6560825" y="1101775"/>
            <a:ext cx="2438400" cy="3200400"/>
          </a:xfrm>
          <a:prstGeom prst="roundRect">
            <a:avLst>
              <a:gd fmla="val 3750" name="adj"/>
            </a:avLst>
          </a:prstGeom>
          <a:solidFill>
            <a:srgbClr val="F3F4F6"/>
          </a:solidFill>
          <a:ln>
            <a:noFill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30"/>
          <p:cNvSpPr/>
          <p:nvPr/>
        </p:nvSpPr>
        <p:spPr>
          <a:xfrm>
            <a:off x="6560825" y="2199055"/>
            <a:ext cx="243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11827"/>
                </a:solidFill>
              </a:rPr>
              <a:t>Production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0"/>
          <p:cNvSpPr/>
          <p:nvPr/>
        </p:nvSpPr>
        <p:spPr>
          <a:xfrm>
            <a:off x="6789425" y="2610535"/>
            <a:ext cx="1981200" cy="9000"/>
          </a:xfrm>
          <a:prstGeom prst="roundRect">
            <a:avLst>
              <a:gd fmla="val 50000" name="adj"/>
            </a:avLst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0"/>
          <p:cNvSpPr/>
          <p:nvPr/>
        </p:nvSpPr>
        <p:spPr>
          <a:xfrm>
            <a:off x="6789425" y="2701975"/>
            <a:ext cx="1981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</a:rPr>
              <a:t>Video Production</a:t>
            </a:r>
            <a:endParaRPr sz="1000">
              <a:solidFill>
                <a:srgbClr val="6B728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</a:rPr>
              <a:t>Photos</a:t>
            </a:r>
            <a:endParaRPr sz="1000">
              <a:solidFill>
                <a:srgbClr val="6B728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B7280"/>
                </a:solidFill>
              </a:rPr>
              <a:t>Reels/Short-form content</a:t>
            </a:r>
            <a:endParaRPr sz="1000">
              <a:solidFill>
                <a:srgbClr val="6B7280"/>
              </a:solidFill>
            </a:endParaRPr>
          </a:p>
        </p:txBody>
      </p:sp>
      <p:sp>
        <p:nvSpPr>
          <p:cNvPr id="1240" name="Google Shape;1240;p30"/>
          <p:cNvSpPr/>
          <p:nvPr/>
        </p:nvSpPr>
        <p:spPr>
          <a:xfrm>
            <a:off x="6522725" y="3790335"/>
            <a:ext cx="1981200" cy="41160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30"/>
          <p:cNvSpPr/>
          <p:nvPr/>
        </p:nvSpPr>
        <p:spPr>
          <a:xfrm>
            <a:off x="6692900" y="3790335"/>
            <a:ext cx="1981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OWNS: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Automations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0"/>
          <p:cNvSpPr/>
          <p:nvPr/>
        </p:nvSpPr>
        <p:spPr>
          <a:xfrm>
            <a:off x="7399028" y="1351043"/>
            <a:ext cx="609600" cy="731400"/>
          </a:xfrm>
          <a:prstGeom prst="roundRect">
            <a:avLst>
              <a:gd fmla="val 25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3" name="Google Shape;124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0948" y="1497284"/>
            <a:ext cx="365761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F46E5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1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8B5CF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3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3730A3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31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Scaling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1"/>
          <p:cNvSpPr/>
          <p:nvPr/>
        </p:nvSpPr>
        <p:spPr>
          <a:xfrm>
            <a:off x="731520" y="256032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31"/>
          <p:cNvSpPr/>
          <p:nvPr/>
        </p:nvSpPr>
        <p:spPr>
          <a:xfrm>
            <a:off x="731520" y="28346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This team will be enough not only to successfully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operate on the local market, but for international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expansion initiation in the region.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32"/>
          <p:cNvSpPr/>
          <p:nvPr/>
        </p:nvSpPr>
        <p:spPr>
          <a:xfrm>
            <a:off x="5943600" y="1371600"/>
            <a:ext cx="5029200" cy="5029200"/>
          </a:xfrm>
          <a:prstGeom prst="ellipse">
            <a:avLst/>
          </a:prstGeom>
          <a:solidFill>
            <a:srgbClr val="4F46E5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32"/>
          <p:cNvSpPr/>
          <p:nvPr/>
        </p:nvSpPr>
        <p:spPr>
          <a:xfrm>
            <a:off x="-1371600" y="-1828800"/>
            <a:ext cx="3657600" cy="3657600"/>
          </a:xfrm>
          <a:prstGeom prst="ellipse">
            <a:avLst/>
          </a:prstGeom>
          <a:solidFill>
            <a:srgbClr val="8B5CF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32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2"/>
          <p:cNvSpPr/>
          <p:nvPr/>
        </p:nvSpPr>
        <p:spPr>
          <a:xfrm>
            <a:off x="731520" y="2103120"/>
            <a:ext cx="1371600" cy="73152"/>
          </a:xfrm>
          <a:prstGeom prst="roundRect">
            <a:avLst>
              <a:gd fmla="val 50000" name="adj"/>
            </a:avLst>
          </a:prstGeom>
          <a:solidFill>
            <a:srgbClr val="C4B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32"/>
          <p:cNvSpPr/>
          <p:nvPr/>
        </p:nvSpPr>
        <p:spPr>
          <a:xfrm>
            <a:off x="731520" y="23774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Ready for your questions!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2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2026-04-13T16:25:49Z</dcterms:created>
  <dc:creator>Artyom Ananov</dc:creator>
</cp:coreProperties>
</file>